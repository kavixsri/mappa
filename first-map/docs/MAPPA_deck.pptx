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7a23cd9c-da40-16b1-a19b-8b390d21a40b}">
          <p14:sldIdLst>
            <p14:sldId id="256"/>
            <p14:sldId id="257"/>
          </p14:sldIdLst>
        </p14:section>
        <p14:section name="Solution" id="{06422520-39c1-6984-507f-0eb2f0680c1d}">
          <p14:sldIdLst>
            <p14:sldId id="258"/>
            <p14:sldId id="259"/>
          </p14:sldIdLst>
        </p14:section>
        <p14:section name="Method" id="{43c17398-deba-af38-4ec6-bd8eb40be690}">
          <p14:sldIdLst>
            <p14:sldId id="260"/>
            <p14:sldId id="261"/>
          </p14:sldIdLst>
        </p14:section>
        <p14:section name="Results" id="{0e404e7f-d971-fecd-0537-7ed6935b1a80}">
          <p14:sldIdLst>
            <p14:sldId id="262"/>
            <p14:sldId id="263"/>
          </p14:sldIdLst>
        </p14:section>
        <p14:section name="Proof" id="{44a066db-2d2f-5d7b-3106-99397cd0295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0"/>
                </a:solidFill>
                <a:latin typeface="+mn-lt"/>
              </a:defRPr>
            </a:pPr>
            <a:r>
              <a:rPr sz="1600" b="0" i="0" u="none" strike="noStrike">
                <a:solidFill>
                  <a:srgbClr val="0F1720"/>
                </a:solidFill>
                <a:latin typeface="+mn-lt"/>
              </a:rPr>
              <a:t>Blocked-road recall, mean of 3 synthetic seeds</a:t>
            </a:r>
          </a:p>
        </c:rich>
      </c:tx>
      <c:layout/>
      <c:overlay val="0"/>
    </c:title>
    <c:autoTitleDeleted val="0"/>
    <c:plotArea>
      <c:layout/>
      <c:barChart>
        <c:barDir val="col"/>
        <c:grouping val="clustered"/>
        <c:varyColors val="0"/>
        <c:ser>
          <c:idx val="0"/>
          <c:order val="0"/>
          <c:tx>
            <c:strRef>
              <c:f>Sheet1!$B$1</c:f>
              <c:strCache>
                <c:ptCount val="1"/>
                <c:pt idx="0">
                  <c:v>With height cue (DSM−DEM)</c:v>
                </c:pt>
              </c:strCache>
            </c:strRef>
          </c:tx>
          <c:spPr>
            <a:solidFill>
              <a:srgbClr val="E8590C"/>
            </a:solidFill>
            <a:effectLst/>
          </c:spPr>
          <c:invertIfNegative val="0"/>
          <c:dLbls>
            <c:numFmt formatCode="0.00" sourceLinked="0"/>
            <c:txPr>
              <a:bodyPr/>
              <a:lstStyle/>
              <a:p>
                <a:pPr>
                  <a:defRPr b="0" i="0" strike="noStrike" sz="1400" u="none">
                    <a:solidFill>
                      <a:srgbClr val="0F1720"/>
                    </a:solidFill>
                    <a:latin typeface="+mn-lt"/>
                  </a:defRPr>
                </a:pPr>
              </a:p>
            </c:txPr>
            <c:showLegendKey val="0"/>
            <c:showVal val="1"/>
            <c:showCatName val="0"/>
            <c:showSerName val="0"/>
            <c:showPercent val="0"/>
            <c:showBubbleSize val="0"/>
            <c:showLeaderLines val="0"/>
          </c:dLbls>
          <c:cat>
            <c:multiLvlStrRef>
              <c:f>Sheet1!$A$2:$A$3</c:f>
              <c:multiLvlStrCache>
                <c:ptCount val="2"/>
                <c:lvl>
                  <c:pt idx="0">
                    <c:v>10 m base</c:v>
                  </c:pt>
                  <c:pt idx="1">
                    <c:v>20 m base</c:v>
                  </c:pt>
                </c:lvl>
              </c:multiLvlStrCache>
            </c:multiLvlStrRef>
          </c:cat>
          <c:val>
            <c:numRef>
              <c:f>Sheet1!$B$2:$B$3</c:f>
              <c:numCache>
                <c:formatCode>General</c:formatCode>
                <c:ptCount val="2"/>
                <c:pt idx="0">
                  <c:v>1</c:v>
                </c:pt>
                <c:pt idx="1">
                  <c:v>0.87</c:v>
                </c:pt>
              </c:numCache>
            </c:numRef>
          </c:val>
        </c:ser>
        <c:ser>
          <c:idx val="1"/>
          <c:order val="1"/>
          <c:tx>
            <c:strRef>
              <c:f>Sheet1!$C$1</c:f>
              <c:strCache>
                <c:ptCount val="1"/>
                <c:pt idx="0">
                  <c:v>Colour change only</c:v>
                </c:pt>
              </c:strCache>
            </c:strRef>
          </c:tx>
          <c:spPr>
            <a:solidFill>
              <a:srgbClr val="6B7A8F"/>
            </a:solidFill>
            <a:effectLst/>
          </c:spPr>
          <c:invertIfNegative val="0"/>
          <c:dLbls>
            <c:numFmt formatCode="0.00" sourceLinked="0"/>
            <c:txPr>
              <a:bodyPr/>
              <a:lstStyle/>
              <a:p>
                <a:pPr>
                  <a:defRPr b="0" i="0" strike="noStrike" sz="1400" u="none">
                    <a:solidFill>
                      <a:srgbClr val="0F1720"/>
                    </a:solidFill>
                    <a:latin typeface="+mn-lt"/>
                  </a:defRPr>
                </a:pPr>
              </a:p>
            </c:txPr>
            <c:showLegendKey val="0"/>
            <c:showVal val="1"/>
            <c:showCatName val="0"/>
            <c:showSerName val="0"/>
            <c:showPercent val="0"/>
            <c:showBubbleSize val="0"/>
            <c:showLeaderLines val="0"/>
          </c:dLbls>
          <c:cat>
            <c:multiLvlStrRef>
              <c:f>Sheet1!$A$2:$A$3</c:f>
              <c:multiLvlStrCache>
                <c:ptCount val="2"/>
                <c:lvl>
                  <c:pt idx="0">
                    <c:v>10 m base</c:v>
                  </c:pt>
                  <c:pt idx="1">
                    <c:v>20 m base</c:v>
                  </c:pt>
                </c:lvl>
              </c:multiLvlStrCache>
            </c:multiLvlStrRef>
          </c:cat>
          <c:val>
            <c:numRef>
              <c:f>Sheet1!$C$2:$C$3</c:f>
              <c:numCache>
                <c:formatCode>General</c:formatCode>
                <c:ptCount val="2"/>
                <c:pt idx="0">
                  <c:v>0</c:v>
                </c:pt>
                <c:pt idx="1">
                  <c:v>0</c:v>
                </c:pt>
              </c:numCache>
            </c:numRef>
          </c:val>
        </c:ser>
        <c:dLbls>
          <c:numFmt formatCode="0.00" sourceLinked="0"/>
          <c:txPr>
            <a:bodyPr/>
            <a:lstStyle/>
            <a:p>
              <a:pPr>
                <a:defRPr b="0" i="0" strike="noStrike" sz="1400" u="none">
                  <a:solidFill>
                    <a:srgbClr val="0F17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F1720"/>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1E5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0F17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MAPPA answers the problem statement 'The First Map After The Landslide'. Responders need a current map in three hours; the satellite pass is Thursday. MAPPA turns drone photos into a georeferenced map, a change report and a blocked-road list, offline on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reasons the usual answers fail, straight from the problem statement. Our design target: stitched, georeferenced, compared with the last known state and exported in standard formats, all without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 go into OpenDroneMap for the orthophoto and DSM. MAPPA then registers the orthophoto to pre-cached base imagery to fix the GPS-only georeference, detects change, scores OSM road segments, and exports. Base data is cached once while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has five rules. GPS lock, high and straight down, interval photos with high overlap, one oblique loop, land at launch. A KML survey grid can be pre-loaded so the pilot only presses start. Flying only where permitted.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accuracy ends up bounded by the base layer, not by our matching. For Sentinel-2 that is of the order of ten metres, so we state plus or minus ten metres at 95 percent, unverified. The synthetic test injects a known 5.7 metre error and recovers it to 0.14 metres on average. We label this clearly as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detection compares the aligned orthophoto with the base image after radiometric normalisation, and uses a height anomaly from DSM minus DEM. Each road is split into twenty metre segments and buffered five metres. Red needs both a large changed share and a height anomaly.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PDF brief the pipeline writes. It carries a simulated-data banner, the accuracy statement and processing time. The perfect precision and recall are on a synthetic scene where we know the truth; they are not a field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3 seeds at 10 and 20 metre base resolution, with and without the height cue. Colour alone found none of the debris-covered road. This is an honest finding that shaped the design: a DSM and DEM are required for a BLOCKED call. All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second figure is the MAPPA pipeline only, on one core with no GPU. OpenDroneMap stitching time is separate and must be measured on the target laptop with the provided script. The package has no network imports; internet is only used for pre-caching base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be honest than impressive: the method works on controlled synthetic data, and the next step is real data and a measured ODM time. Everything is open source and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9144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rtlCol="0"/>
          <a:lstStyle>
            <a:lvl1pPr algn="l" indent="0" marL="0">
              <a:buNone/>
              <a:defRPr lang="en-US" sz="3600" b="1" dirty="0">
                <a:solidFill>
                  <a:srgbClr val="0F1720"/>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F17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7863840" cy="1280160"/>
          </a:xfrm>
          <a:prstGeom prst="rect">
            <a:avLst/>
          </a:prstGeom>
          <a:noFill/>
          <a:ln/>
        </p:spPr>
        <p:txBody>
          <a:bodyPr wrap="square" rtlCol="0"/>
          <a:lstStyle>
            <a:lvl1pPr algn="l" indent="0" marL="0">
              <a:buNone/>
              <a:defRPr lang="en-US" sz="8000" b="1" dirty="0">
                <a:solidFill>
                  <a:srgbClr val="FFFFFF"/>
                </a:solidFill>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7863840" cy="1280160"/>
          </a:xfrm>
          <a:prstGeom prst="rect">
            <a:avLst/>
          </a:prstGeom>
          <a:noFill/>
          <a:ln/>
        </p:spPr>
        <p:txBody>
          <a:bodyPr wrap="square" lIns="0" tIns="0" rIns="0" bIns="0" rtlCol="0" anchor="t"/>
          <a:lstStyle/>
          <a:p>
            <a:pPr algn="l" indent="0" marL="0">
              <a:buNone/>
            </a:pPr>
            <a:r>
              <a:rPr lang="en-US" sz="8000" b="1" dirty="0">
                <a:solidFill>
                  <a:srgbClr val="FFFFFF"/>
                </a:solidFill>
              </a:rPr>
              <a:t>MAPPA</a:t>
            </a:r>
            <a:endParaRPr lang="en-US" sz="8000" dirty="0"/>
          </a:p>
        </p:txBody>
      </p:sp>
      <p:sp>
        <p:nvSpPr>
          <p:cNvPr id="3" name="Subtitle"/>
          <p:cNvSpPr txBox="1"/>
          <p:nvPr/>
        </p:nvSpPr>
        <p:spPr>
          <a:xfrm>
            <a:off x="822960" y="2926080"/>
            <a:ext cx="10058400" cy="640080"/>
          </a:xfrm>
          <a:prstGeom prst="rect">
            <a:avLst/>
          </a:prstGeom>
          <a:noFill/>
          <a:ln/>
        </p:spPr>
        <p:txBody>
          <a:bodyPr wrap="square" lIns="0" tIns="0" rIns="0" bIns="0" rtlCol="0" anchor="ctr"/>
          <a:lstStyle/>
          <a:p>
            <a:pPr indent="0" marL="0">
              <a:buNone/>
            </a:pPr>
            <a:r>
              <a:rPr lang="en-US" sz="3200" dirty="0">
                <a:solidFill>
                  <a:srgbClr val="FFFFFF"/>
                </a:solidFill>
                <a:latin typeface="Cambria" pitchFamily="34" charset="0"/>
                <a:ea typeface="Cambria" pitchFamily="34" charset="-122"/>
                <a:cs typeface="Cambria" pitchFamily="34" charset="-120"/>
              </a:rPr>
              <a:t>The first map after the landslide</a:t>
            </a:r>
            <a:endParaRPr lang="en-US" sz="3200" dirty="0"/>
          </a:p>
        </p:txBody>
      </p:sp>
      <p:sp>
        <p:nvSpPr>
          <p:cNvPr id="4" name="Tagline"/>
          <p:cNvSpPr txBox="1"/>
          <p:nvPr/>
        </p:nvSpPr>
        <p:spPr>
          <a:xfrm>
            <a:off x="822960" y="3840480"/>
            <a:ext cx="7680960" cy="1188720"/>
          </a:xfrm>
          <a:prstGeom prst="rect">
            <a:avLst/>
          </a:prstGeom>
          <a:noFill/>
          <a:ln/>
        </p:spPr>
        <p:txBody>
          <a:bodyPr wrap="square" lIns="0" tIns="0" rIns="0" bIns="0" rtlCol="0" anchor="ctr"/>
          <a:lstStyle/>
          <a:p>
            <a:pPr indent="0" marL="0">
              <a:buNone/>
            </a:pPr>
            <a:r>
              <a:rPr lang="en-US" sz="2000" dirty="0">
                <a:solidFill>
                  <a:srgbClr val="C9D3DE"/>
                </a:solidFill>
              </a:rPr>
              <a:t>Consumer-drone photos in. Georeferenced map, change report and blocked roads out.</a:t>
            </a:r>
            <a:endParaRPr lang="en-US" sz="2000" dirty="0"/>
          </a:p>
          <a:p>
            <a:pPr indent="0" marL="0">
              <a:buNone/>
            </a:pPr>
            <a:r>
              <a:rPr lang="en-US" sz="2000" dirty="0">
                <a:solidFill>
                  <a:srgbClr val="C9D3DE"/>
                </a:solidFill>
              </a:rPr>
              <a:t>Offline. On a laptop. No ground control points.</a:t>
            </a:r>
            <a:endParaRPr lang="en-US" sz="2000" dirty="0"/>
          </a:p>
        </p:txBody>
      </p:sp>
      <p:sp>
        <p:nvSpPr>
          <p:cNvPr id="5" name="Repo chip"/>
          <p:cNvSpPr/>
          <p:nvPr/>
        </p:nvSpPr>
        <p:spPr>
          <a:xfrm>
            <a:off x="822960" y="5394960"/>
            <a:ext cx="4754880" cy="548640"/>
          </a:xfrm>
          <a:prstGeom prst="roundRect">
            <a:avLst>
              <a:gd name="adj" fmla="val 20000"/>
            </a:avLst>
          </a:prstGeom>
          <a:solidFill>
            <a:srgbClr val="2A3744"/>
          </a:solidFill>
          <a:ln w="12700">
            <a:solidFill>
              <a:srgbClr val="2A3744"/>
            </a:solidFill>
            <a:prstDash val="solid"/>
          </a:ln>
        </p:spPr>
      </p:sp>
      <p:sp>
        <p:nvSpPr>
          <p:cNvPr id="6" name="Repo URL"/>
          <p:cNvSpPr txBox="1"/>
          <p:nvPr/>
        </p:nvSpPr>
        <p:spPr>
          <a:xfrm>
            <a:off x="1051560" y="5394960"/>
            <a:ext cx="4389120" cy="548640"/>
          </a:xfrm>
          <a:prstGeom prst="rect">
            <a:avLst/>
          </a:prstGeom>
          <a:noFill/>
          <a:ln/>
        </p:spPr>
        <p:txBody>
          <a:bodyPr wrap="square" lIns="0" tIns="0" rIns="0" bIns="0" rtlCol="0" anchor="ctr"/>
          <a:lstStyle/>
          <a:p>
            <a:pPr indent="0" marL="0">
              <a:buNone/>
            </a:pPr>
            <a:r>
              <a:rPr lang="en-US" sz="1800" dirty="0">
                <a:solidFill>
                  <a:srgbClr val="FFFFFF"/>
                </a:solidFill>
              </a:rPr>
              <a:t>github.com/kavixsri/MAPPA</a:t>
            </a:r>
            <a:endParaRPr lang="en-US" sz="1800" dirty="0"/>
          </a:p>
        </p:txBody>
      </p:sp>
      <p:sp>
        <p:nvSpPr>
          <p:cNvPr id="7" name="Pin 0"/>
          <p:cNvSpPr/>
          <p:nvPr/>
        </p:nvSpPr>
        <p:spPr>
          <a:xfrm>
            <a:off x="9326880" y="1463040"/>
            <a:ext cx="2194560" cy="2194560"/>
          </a:xfrm>
          <a:prstGeom prst="ellipse">
            <a:avLst/>
          </a:prstGeom>
          <a:solidFill>
            <a:srgbClr val="E8590C">
              <a:alpha val="75000"/>
            </a:srgbClr>
          </a:solidFill>
          <a:ln w="12700">
            <a:solidFill>
              <a:srgbClr val="E8590C"/>
            </a:solidFill>
            <a:prstDash val="solid"/>
          </a:ln>
        </p:spPr>
      </p:sp>
      <p:sp>
        <p:nvSpPr>
          <p:cNvPr id="8" name="Pin 1"/>
          <p:cNvSpPr/>
          <p:nvPr/>
        </p:nvSpPr>
        <p:spPr>
          <a:xfrm>
            <a:off x="10424160" y="2926080"/>
            <a:ext cx="1371600" cy="1371600"/>
          </a:xfrm>
          <a:prstGeom prst="ellipse">
            <a:avLst/>
          </a:prstGeom>
          <a:solidFill>
            <a:srgbClr val="D62828">
              <a:alpha val="75000"/>
            </a:srgbClr>
          </a:solidFill>
          <a:ln w="12700">
            <a:solidFill>
              <a:srgbClr val="D62828"/>
            </a:solidFill>
            <a:prstDash val="solid"/>
          </a:ln>
        </p:spPr>
      </p:sp>
      <p:sp>
        <p:nvSpPr>
          <p:cNvPr id="9" name="Pin 2"/>
          <p:cNvSpPr/>
          <p:nvPr/>
        </p:nvSpPr>
        <p:spPr>
          <a:xfrm>
            <a:off x="8869680" y="3291840"/>
            <a:ext cx="1005840" cy="1005840"/>
          </a:xfrm>
          <a:prstGeom prst="ellipse">
            <a:avLst/>
          </a:prstGeom>
          <a:solidFill>
            <a:srgbClr val="F4A100">
              <a:alpha val="75000"/>
            </a:srgbClr>
          </a:solidFill>
          <a:ln w="12700">
            <a:solidFill>
              <a:srgbClr val="F4A10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Responders need a map in 3 hours, not Thursday</a:t>
            </a:r>
            <a:endParaRPr lang="en-US" sz="3600" dirty="0"/>
          </a:p>
        </p:txBody>
      </p:sp>
      <p:sp>
        <p:nvSpPr>
          <p:cNvPr id="3" name="Fail card 1"/>
          <p:cNvSpPr/>
          <p:nvPr/>
        </p:nvSpPr>
        <p:spPr>
          <a:xfrm>
            <a:off x="640080" y="1737360"/>
            <a:ext cx="2606040" cy="3108960"/>
          </a:xfrm>
          <a:prstGeom prst="roundRect">
            <a:avLst>
              <a:gd name="adj" fmla="val 4211"/>
            </a:avLst>
          </a:prstGeom>
          <a:solidFill>
            <a:schemeClr val="bg2"/>
          </a:solidFill>
          <a:ln w="12700">
            <a:solidFill>
              <a:schemeClr val="bg2"/>
            </a:solidFill>
            <a:prstDash val="solid"/>
          </a:ln>
        </p:spPr>
      </p:sp>
      <p:sp>
        <p:nvSpPr>
          <p:cNvPr id="4" name="Fail 1 badge"/>
          <p:cNvSpPr/>
          <p:nvPr/>
        </p:nvSpPr>
        <p:spPr>
          <a:xfrm>
            <a:off x="868680" y="1965960"/>
            <a:ext cx="548640" cy="548640"/>
          </a:xfrm>
          <a:prstGeom prst="ellipse">
            <a:avLst/>
          </a:prstGeom>
          <a:solidFill>
            <a:srgbClr val="D62828"/>
          </a:solidFill>
          <a:ln w="12700">
            <a:solidFill>
              <a:srgbClr val="D62828"/>
            </a:solidFill>
            <a:prstDash val="solid"/>
          </a:ln>
        </p:spPr>
      </p:sp>
      <p:sp>
        <p:nvSpPr>
          <p:cNvPr id="5" name="Fail 1 badge text"/>
          <p:cNvSpPr txBox="1"/>
          <p:nvPr/>
        </p:nvSpPr>
        <p:spPr>
          <a:xfrm>
            <a:off x="86868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Fail head 1"/>
          <p:cNvSpPr txBox="1"/>
          <p:nvPr/>
        </p:nvSpPr>
        <p:spPr>
          <a:xfrm>
            <a:off x="868680" y="2743200"/>
            <a:ext cx="2194560" cy="8229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Cloud photogrammetry</a:t>
            </a:r>
            <a:endParaRPr lang="en-US" sz="2200" dirty="0"/>
          </a:p>
        </p:txBody>
      </p:sp>
      <p:sp>
        <p:nvSpPr>
          <p:cNvPr id="7" name="Fail text 1"/>
          <p:cNvSpPr txBox="1"/>
          <p:nvPr/>
        </p:nvSpPr>
        <p:spPr>
          <a:xfrm>
            <a:off x="868680" y="3611880"/>
            <a:ext cx="2194560" cy="1097280"/>
          </a:xfrm>
          <a:prstGeom prst="rect">
            <a:avLst/>
          </a:prstGeom>
          <a:noFill/>
          <a:ln/>
        </p:spPr>
        <p:txBody>
          <a:bodyPr wrap="square" lIns="0" tIns="0" rIns="0" bIns="0" rtlCol="0" anchor="ctr"/>
          <a:lstStyle/>
          <a:p>
            <a:pPr indent="0" marL="0">
              <a:buNone/>
            </a:pPr>
            <a:r>
              <a:rPr lang="en-US" sz="1600" dirty="0">
                <a:solidFill>
                  <a:schemeClr val="tx2"/>
                </a:solidFill>
              </a:rPr>
              <a:t>Needs bandwidth the field does not have.</a:t>
            </a:r>
            <a:endParaRPr lang="en-US" sz="1600" dirty="0"/>
          </a:p>
        </p:txBody>
      </p:sp>
      <p:sp>
        <p:nvSpPr>
          <p:cNvPr id="8" name="Fail card 2"/>
          <p:cNvSpPr/>
          <p:nvPr/>
        </p:nvSpPr>
        <p:spPr>
          <a:xfrm>
            <a:off x="3429000" y="1737360"/>
            <a:ext cx="2606040" cy="3108960"/>
          </a:xfrm>
          <a:prstGeom prst="roundRect">
            <a:avLst>
              <a:gd name="adj" fmla="val 4211"/>
            </a:avLst>
          </a:prstGeom>
          <a:solidFill>
            <a:schemeClr val="bg2"/>
          </a:solidFill>
          <a:ln w="12700">
            <a:solidFill>
              <a:schemeClr val="bg2"/>
            </a:solidFill>
            <a:prstDash val="solid"/>
          </a:ln>
        </p:spPr>
      </p:sp>
      <p:sp>
        <p:nvSpPr>
          <p:cNvPr id="9" name="Fail 2 badge"/>
          <p:cNvSpPr/>
          <p:nvPr/>
        </p:nvSpPr>
        <p:spPr>
          <a:xfrm>
            <a:off x="3657600" y="1965960"/>
            <a:ext cx="548640" cy="548640"/>
          </a:xfrm>
          <a:prstGeom prst="ellipse">
            <a:avLst/>
          </a:prstGeom>
          <a:solidFill>
            <a:srgbClr val="D62828"/>
          </a:solidFill>
          <a:ln w="12700">
            <a:solidFill>
              <a:srgbClr val="D62828"/>
            </a:solidFill>
            <a:prstDash val="solid"/>
          </a:ln>
        </p:spPr>
      </p:sp>
      <p:sp>
        <p:nvSpPr>
          <p:cNvPr id="10" name="Fail 2 badge text"/>
          <p:cNvSpPr txBox="1"/>
          <p:nvPr/>
        </p:nvSpPr>
        <p:spPr>
          <a:xfrm>
            <a:off x="365760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1" name="Fail head 2"/>
          <p:cNvSpPr txBox="1"/>
          <p:nvPr/>
        </p:nvSpPr>
        <p:spPr>
          <a:xfrm>
            <a:off x="3657600" y="2743200"/>
            <a:ext cx="2194560" cy="8229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Ground control points</a:t>
            </a:r>
            <a:endParaRPr lang="en-US" sz="2200" dirty="0"/>
          </a:p>
        </p:txBody>
      </p:sp>
      <p:sp>
        <p:nvSpPr>
          <p:cNvPr id="12" name="Fail text 2"/>
          <p:cNvSpPr txBox="1"/>
          <p:nvPr/>
        </p:nvSpPr>
        <p:spPr>
          <a:xfrm>
            <a:off x="3657600" y="3611880"/>
            <a:ext cx="2194560" cy="1097280"/>
          </a:xfrm>
          <a:prstGeom prst="rect">
            <a:avLst/>
          </a:prstGeom>
          <a:noFill/>
          <a:ln/>
        </p:spPr>
        <p:txBody>
          <a:bodyPr wrap="square" lIns="0" tIns="0" rIns="0" bIns="0" rtlCol="0" anchor="ctr"/>
          <a:lstStyle/>
          <a:p>
            <a:pPr indent="0" marL="0">
              <a:buNone/>
            </a:pPr>
            <a:r>
              <a:rPr lang="en-US" sz="1600" dirty="0">
                <a:solidFill>
                  <a:schemeClr val="tx2"/>
                </a:solidFill>
              </a:rPr>
              <a:t>Nobody is placing GCPs during a disaster.</a:t>
            </a:r>
            <a:endParaRPr lang="en-US" sz="1600" dirty="0"/>
          </a:p>
        </p:txBody>
      </p:sp>
      <p:sp>
        <p:nvSpPr>
          <p:cNvPr id="13" name="Fail card 3"/>
          <p:cNvSpPr/>
          <p:nvPr/>
        </p:nvSpPr>
        <p:spPr>
          <a:xfrm>
            <a:off x="6217920" y="1737360"/>
            <a:ext cx="2606040" cy="3108960"/>
          </a:xfrm>
          <a:prstGeom prst="roundRect">
            <a:avLst>
              <a:gd name="adj" fmla="val 4211"/>
            </a:avLst>
          </a:prstGeom>
          <a:solidFill>
            <a:schemeClr val="bg2"/>
          </a:solidFill>
          <a:ln w="12700">
            <a:solidFill>
              <a:schemeClr val="bg2"/>
            </a:solidFill>
            <a:prstDash val="solid"/>
          </a:ln>
        </p:spPr>
      </p:sp>
      <p:sp>
        <p:nvSpPr>
          <p:cNvPr id="14" name="Fail 3 badge"/>
          <p:cNvSpPr/>
          <p:nvPr/>
        </p:nvSpPr>
        <p:spPr>
          <a:xfrm>
            <a:off x="6446520" y="1965960"/>
            <a:ext cx="548640" cy="548640"/>
          </a:xfrm>
          <a:prstGeom prst="ellipse">
            <a:avLst/>
          </a:prstGeom>
          <a:solidFill>
            <a:srgbClr val="D62828"/>
          </a:solidFill>
          <a:ln w="12700">
            <a:solidFill>
              <a:srgbClr val="D62828"/>
            </a:solidFill>
            <a:prstDash val="solid"/>
          </a:ln>
        </p:spPr>
      </p:sp>
      <p:sp>
        <p:nvSpPr>
          <p:cNvPr id="15" name="Fail 3 badge text"/>
          <p:cNvSpPr txBox="1"/>
          <p:nvPr/>
        </p:nvSpPr>
        <p:spPr>
          <a:xfrm>
            <a:off x="644652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6" name="Fail head 3"/>
          <p:cNvSpPr txBox="1"/>
          <p:nvPr/>
        </p:nvSpPr>
        <p:spPr>
          <a:xfrm>
            <a:off x="6446520" y="2743200"/>
            <a:ext cx="2194560" cy="8229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Satellite tasking</a:t>
            </a:r>
            <a:endParaRPr lang="en-US" sz="2200" dirty="0"/>
          </a:p>
        </p:txBody>
      </p:sp>
      <p:sp>
        <p:nvSpPr>
          <p:cNvPr id="17" name="Fail text 3"/>
          <p:cNvSpPr txBox="1"/>
          <p:nvPr/>
        </p:nvSpPr>
        <p:spPr>
          <a:xfrm>
            <a:off x="6446520" y="3611880"/>
            <a:ext cx="2194560" cy="1097280"/>
          </a:xfrm>
          <a:prstGeom prst="rect">
            <a:avLst/>
          </a:prstGeom>
          <a:noFill/>
          <a:ln/>
        </p:spPr>
        <p:txBody>
          <a:bodyPr wrap="square" lIns="0" tIns="0" rIns="0" bIns="0" rtlCol="0" anchor="ctr"/>
          <a:lstStyle/>
          <a:p>
            <a:pPr indent="0" marL="0">
              <a:buNone/>
            </a:pPr>
            <a:r>
              <a:rPr lang="en-US" sz="1600" dirty="0">
                <a:solidFill>
                  <a:schemeClr val="tx2"/>
                </a:solidFill>
              </a:rPr>
              <a:t>Too slow on day one, and cloud cover can remove it.</a:t>
            </a:r>
            <a:endParaRPr lang="en-US" sz="1600" dirty="0"/>
          </a:p>
        </p:txBody>
      </p:sp>
      <p:sp>
        <p:nvSpPr>
          <p:cNvPr id="18" name="Fail card 4"/>
          <p:cNvSpPr/>
          <p:nvPr/>
        </p:nvSpPr>
        <p:spPr>
          <a:xfrm>
            <a:off x="9006840" y="1737360"/>
            <a:ext cx="2606040" cy="3108960"/>
          </a:xfrm>
          <a:prstGeom prst="roundRect">
            <a:avLst>
              <a:gd name="adj" fmla="val 4211"/>
            </a:avLst>
          </a:prstGeom>
          <a:solidFill>
            <a:schemeClr val="bg2"/>
          </a:solidFill>
          <a:ln w="12700">
            <a:solidFill>
              <a:schemeClr val="bg2"/>
            </a:solidFill>
            <a:prstDash val="solid"/>
          </a:ln>
        </p:spPr>
      </p:sp>
      <p:sp>
        <p:nvSpPr>
          <p:cNvPr id="19" name="Fail 4 badge"/>
          <p:cNvSpPr/>
          <p:nvPr/>
        </p:nvSpPr>
        <p:spPr>
          <a:xfrm>
            <a:off x="9235440" y="1965960"/>
            <a:ext cx="548640" cy="548640"/>
          </a:xfrm>
          <a:prstGeom prst="ellipse">
            <a:avLst/>
          </a:prstGeom>
          <a:solidFill>
            <a:srgbClr val="D62828"/>
          </a:solidFill>
          <a:ln w="12700">
            <a:solidFill>
              <a:srgbClr val="D62828"/>
            </a:solidFill>
            <a:prstDash val="solid"/>
          </a:ln>
        </p:spPr>
      </p:sp>
      <p:sp>
        <p:nvSpPr>
          <p:cNvPr id="20" name="Fail 4 badge text"/>
          <p:cNvSpPr txBox="1"/>
          <p:nvPr/>
        </p:nvSpPr>
        <p:spPr>
          <a:xfrm>
            <a:off x="923544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21" name="Fail head 4"/>
          <p:cNvSpPr txBox="1"/>
          <p:nvPr/>
        </p:nvSpPr>
        <p:spPr>
          <a:xfrm>
            <a:off x="9235440" y="2743200"/>
            <a:ext cx="2194560" cy="8229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Raw video</a:t>
            </a:r>
            <a:endParaRPr lang="en-US" sz="2200" dirty="0"/>
          </a:p>
        </p:txBody>
      </p:sp>
      <p:sp>
        <p:nvSpPr>
          <p:cNvPr id="22" name="Fail text 4"/>
          <p:cNvSpPr txBox="1"/>
          <p:nvPr/>
        </p:nvSpPr>
        <p:spPr>
          <a:xfrm>
            <a:off x="9235440" y="3611880"/>
            <a:ext cx="2194560" cy="1097280"/>
          </a:xfrm>
          <a:prstGeom prst="rect">
            <a:avLst/>
          </a:prstGeom>
          <a:noFill/>
          <a:ln/>
        </p:spPr>
        <p:txBody>
          <a:bodyPr wrap="square" lIns="0" tIns="0" rIns="0" bIns="0" rtlCol="0" anchor="ctr"/>
          <a:lstStyle/>
          <a:p>
            <a:pPr indent="0" marL="0">
              <a:buNone/>
            </a:pPr>
            <a:r>
              <a:rPr lang="en-US" sz="1600" dirty="0">
                <a:solidFill>
                  <a:schemeClr val="tx2"/>
                </a:solidFill>
              </a:rPr>
              <a:t>Footage is not a map. Nobody plans from it.</a:t>
            </a:r>
            <a:endParaRPr lang="en-US" sz="1600" dirty="0"/>
          </a:p>
        </p:txBody>
      </p:sp>
      <p:sp>
        <p:nvSpPr>
          <p:cNvPr id="23" name="Takeaway"/>
          <p:cNvSpPr txBox="1"/>
          <p:nvPr/>
        </p:nvSpPr>
        <p:spPr>
          <a:xfrm>
            <a:off x="640080" y="5303520"/>
            <a:ext cx="10881360" cy="548640"/>
          </a:xfrm>
          <a:prstGeom prst="rect">
            <a:avLst/>
          </a:prstGeom>
          <a:noFill/>
          <a:ln/>
        </p:spPr>
        <p:txBody>
          <a:bodyPr wrap="square" lIns="0" tIns="0" rIns="0" bIns="0" rtlCol="0" anchor="ctr"/>
          <a:lstStyle/>
          <a:p>
            <a:pPr indent="0" marL="0">
              <a:buNone/>
            </a:pPr>
            <a:r>
              <a:rPr lang="en-US" sz="2200" b="1" dirty="0">
                <a:solidFill>
                  <a:schemeClr val="accent1"/>
                </a:solidFill>
              </a:rPr>
              <a:t>MAPPA closes the gap: fast, low, offline, and honest about its error.</a:t>
            </a:r>
            <a:endParaRPr lang="en-US" sz="2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One offline pipeline, six open-source steps</a:t>
            </a:r>
            <a:endParaRPr lang="en-US" sz="3600" dirty="0"/>
          </a:p>
        </p:txBody>
      </p:sp>
      <p:sp>
        <p:nvSpPr>
          <p:cNvPr id="3" name="Step card 1"/>
          <p:cNvSpPr/>
          <p:nvPr/>
        </p:nvSpPr>
        <p:spPr>
          <a:xfrm>
            <a:off x="640080" y="1737360"/>
            <a:ext cx="1664208" cy="2286000"/>
          </a:xfrm>
          <a:prstGeom prst="roundRect">
            <a:avLst>
              <a:gd name="adj" fmla="val 6593"/>
            </a:avLst>
          </a:prstGeom>
          <a:solidFill>
            <a:schemeClr val="bg2"/>
          </a:solidFill>
          <a:ln w="12700">
            <a:solidFill>
              <a:schemeClr val="bg2"/>
            </a:solidFill>
            <a:prstDash val="solid"/>
          </a:ln>
        </p:spPr>
      </p:sp>
      <p:sp>
        <p:nvSpPr>
          <p:cNvPr id="4" name="Step 1 badge"/>
          <p:cNvSpPr/>
          <p:nvPr/>
        </p:nvSpPr>
        <p:spPr>
          <a:xfrm>
            <a:off x="822960" y="1920240"/>
            <a:ext cx="502920" cy="502920"/>
          </a:xfrm>
          <a:prstGeom prst="ellipse">
            <a:avLst/>
          </a:prstGeom>
          <a:solidFill>
            <a:srgbClr val="0F1720"/>
          </a:solidFill>
          <a:ln w="12700">
            <a:solidFill>
              <a:srgbClr val="0F1720"/>
            </a:solidFill>
            <a:prstDash val="solid"/>
          </a:ln>
        </p:spPr>
      </p:sp>
      <p:sp>
        <p:nvSpPr>
          <p:cNvPr id="5" name="Step 1 badge text"/>
          <p:cNvSpPr txBox="1"/>
          <p:nvPr/>
        </p:nvSpPr>
        <p:spPr>
          <a:xfrm>
            <a:off x="82296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Step head 1"/>
          <p:cNvSpPr txBox="1"/>
          <p:nvPr/>
        </p:nvSpPr>
        <p:spPr>
          <a:xfrm>
            <a:off x="822960" y="2606040"/>
            <a:ext cx="1389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Photos</a:t>
            </a:r>
            <a:endParaRPr lang="en-US" sz="1900" dirty="0"/>
          </a:p>
        </p:txBody>
      </p:sp>
      <p:sp>
        <p:nvSpPr>
          <p:cNvPr id="7" name="Step text 1"/>
          <p:cNvSpPr txBox="1"/>
          <p:nvPr/>
        </p:nvSpPr>
        <p:spPr>
          <a:xfrm>
            <a:off x="822960" y="3063240"/>
            <a:ext cx="1389888" cy="868680"/>
          </a:xfrm>
          <a:prstGeom prst="rect">
            <a:avLst/>
          </a:prstGeom>
          <a:noFill/>
          <a:ln/>
        </p:spPr>
        <p:txBody>
          <a:bodyPr wrap="square" lIns="0" tIns="0" rIns="0" bIns="0" rtlCol="0" anchor="ctr"/>
          <a:lstStyle/>
          <a:p>
            <a:pPr indent="0" marL="0">
              <a:buNone/>
            </a:pPr>
            <a:r>
              <a:rPr lang="en-US" sz="1400" dirty="0">
                <a:solidFill>
                  <a:schemeClr val="tx2"/>
                </a:solidFill>
              </a:rPr>
              <a:t>Interval JPEGs with GPS EXIF</a:t>
            </a:r>
            <a:endParaRPr lang="en-US" sz="1400" dirty="0"/>
          </a:p>
        </p:txBody>
      </p:sp>
      <p:sp>
        <p:nvSpPr>
          <p:cNvPr id="8" name="Arrow 1"/>
          <p:cNvSpPr/>
          <p:nvPr/>
        </p:nvSpPr>
        <p:spPr>
          <a:xfrm>
            <a:off x="2322576" y="2697480"/>
            <a:ext cx="219456" cy="274320"/>
          </a:xfrm>
          <a:prstGeom prst="rightArrow">
            <a:avLst/>
          </a:prstGeom>
          <a:solidFill>
            <a:srgbClr val="E8590C"/>
          </a:solidFill>
          <a:ln w="12700">
            <a:solidFill>
              <a:srgbClr val="E8590C"/>
            </a:solidFill>
            <a:prstDash val="solid"/>
          </a:ln>
        </p:spPr>
      </p:sp>
      <p:sp>
        <p:nvSpPr>
          <p:cNvPr id="9" name="Step card 2"/>
          <p:cNvSpPr/>
          <p:nvPr/>
        </p:nvSpPr>
        <p:spPr>
          <a:xfrm>
            <a:off x="2560320" y="1737360"/>
            <a:ext cx="1664208" cy="2286000"/>
          </a:xfrm>
          <a:prstGeom prst="roundRect">
            <a:avLst>
              <a:gd name="adj" fmla="val 6593"/>
            </a:avLst>
          </a:prstGeom>
          <a:solidFill>
            <a:schemeClr val="bg2"/>
          </a:solidFill>
          <a:ln w="12700">
            <a:solidFill>
              <a:schemeClr val="bg2"/>
            </a:solidFill>
            <a:prstDash val="solid"/>
          </a:ln>
        </p:spPr>
      </p:sp>
      <p:sp>
        <p:nvSpPr>
          <p:cNvPr id="10" name="Step 2 badge"/>
          <p:cNvSpPr/>
          <p:nvPr/>
        </p:nvSpPr>
        <p:spPr>
          <a:xfrm>
            <a:off x="2743200" y="1920240"/>
            <a:ext cx="502920" cy="502920"/>
          </a:xfrm>
          <a:prstGeom prst="ellipse">
            <a:avLst/>
          </a:prstGeom>
          <a:solidFill>
            <a:srgbClr val="0F1720"/>
          </a:solidFill>
          <a:ln w="12700">
            <a:solidFill>
              <a:srgbClr val="0F1720"/>
            </a:solidFill>
            <a:prstDash val="solid"/>
          </a:ln>
        </p:spPr>
      </p:sp>
      <p:sp>
        <p:nvSpPr>
          <p:cNvPr id="11" name="Step 2 badge text"/>
          <p:cNvSpPr txBox="1"/>
          <p:nvPr/>
        </p:nvSpPr>
        <p:spPr>
          <a:xfrm>
            <a:off x="274320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Step head 2"/>
          <p:cNvSpPr txBox="1"/>
          <p:nvPr/>
        </p:nvSpPr>
        <p:spPr>
          <a:xfrm>
            <a:off x="2743200" y="2606040"/>
            <a:ext cx="1389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Stitch</a:t>
            </a:r>
            <a:endParaRPr lang="en-US" sz="1900" dirty="0"/>
          </a:p>
        </p:txBody>
      </p:sp>
      <p:sp>
        <p:nvSpPr>
          <p:cNvPr id="13" name="Step text 2"/>
          <p:cNvSpPr txBox="1"/>
          <p:nvPr/>
        </p:nvSpPr>
        <p:spPr>
          <a:xfrm>
            <a:off x="2743200" y="3063240"/>
            <a:ext cx="1389888" cy="868680"/>
          </a:xfrm>
          <a:prstGeom prst="rect">
            <a:avLst/>
          </a:prstGeom>
          <a:noFill/>
          <a:ln/>
        </p:spPr>
        <p:txBody>
          <a:bodyPr wrap="square" lIns="0" tIns="0" rIns="0" bIns="0" rtlCol="0" anchor="ctr"/>
          <a:lstStyle/>
          <a:p>
            <a:pPr indent="0" marL="0">
              <a:buNone/>
            </a:pPr>
            <a:r>
              <a:rPr lang="en-US" sz="1400" dirty="0">
                <a:solidFill>
                  <a:schemeClr val="tx2"/>
                </a:solidFill>
              </a:rPr>
              <a:t>OpenDroneMap</a:t>
            </a:r>
            <a:endParaRPr lang="en-US" sz="1400" dirty="0"/>
          </a:p>
          <a:p>
            <a:pPr indent="0" marL="0">
              <a:buNone/>
            </a:pPr>
            <a:r>
              <a:rPr lang="en-US" sz="1400" dirty="0">
                <a:solidFill>
                  <a:schemeClr val="tx2"/>
                </a:solidFill>
              </a:rPr>
              <a:t>orthophoto + DSM</a:t>
            </a:r>
            <a:endParaRPr lang="en-US" sz="1400" dirty="0"/>
          </a:p>
        </p:txBody>
      </p:sp>
      <p:sp>
        <p:nvSpPr>
          <p:cNvPr id="14" name="Arrow 2"/>
          <p:cNvSpPr/>
          <p:nvPr/>
        </p:nvSpPr>
        <p:spPr>
          <a:xfrm>
            <a:off x="4242816" y="2697480"/>
            <a:ext cx="219456" cy="274320"/>
          </a:xfrm>
          <a:prstGeom prst="rightArrow">
            <a:avLst/>
          </a:prstGeom>
          <a:solidFill>
            <a:srgbClr val="E8590C"/>
          </a:solidFill>
          <a:ln w="12700">
            <a:solidFill>
              <a:srgbClr val="E8590C"/>
            </a:solidFill>
            <a:prstDash val="solid"/>
          </a:ln>
        </p:spPr>
      </p:sp>
      <p:sp>
        <p:nvSpPr>
          <p:cNvPr id="15" name="Step card 3"/>
          <p:cNvSpPr/>
          <p:nvPr/>
        </p:nvSpPr>
        <p:spPr>
          <a:xfrm>
            <a:off x="4480560" y="1737360"/>
            <a:ext cx="1664208" cy="2286000"/>
          </a:xfrm>
          <a:prstGeom prst="roundRect">
            <a:avLst>
              <a:gd name="adj" fmla="val 6593"/>
            </a:avLst>
          </a:prstGeom>
          <a:solidFill>
            <a:schemeClr val="bg2"/>
          </a:solidFill>
          <a:ln w="12700">
            <a:solidFill>
              <a:schemeClr val="bg2"/>
            </a:solidFill>
            <a:prstDash val="solid"/>
          </a:ln>
        </p:spPr>
      </p:sp>
      <p:sp>
        <p:nvSpPr>
          <p:cNvPr id="16" name="Step 3 badge"/>
          <p:cNvSpPr/>
          <p:nvPr/>
        </p:nvSpPr>
        <p:spPr>
          <a:xfrm>
            <a:off x="4663440" y="1920240"/>
            <a:ext cx="502920" cy="502920"/>
          </a:xfrm>
          <a:prstGeom prst="ellipse">
            <a:avLst/>
          </a:prstGeom>
          <a:solidFill>
            <a:srgbClr val="0F1720"/>
          </a:solidFill>
          <a:ln w="12700">
            <a:solidFill>
              <a:srgbClr val="0F1720"/>
            </a:solidFill>
            <a:prstDash val="solid"/>
          </a:ln>
        </p:spPr>
      </p:sp>
      <p:sp>
        <p:nvSpPr>
          <p:cNvPr id="17" name="Step 3 badge text"/>
          <p:cNvSpPr txBox="1"/>
          <p:nvPr/>
        </p:nvSpPr>
        <p:spPr>
          <a:xfrm>
            <a:off x="46634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Step head 3"/>
          <p:cNvSpPr txBox="1"/>
          <p:nvPr/>
        </p:nvSpPr>
        <p:spPr>
          <a:xfrm>
            <a:off x="4663440" y="2606040"/>
            <a:ext cx="1389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Register</a:t>
            </a:r>
            <a:endParaRPr lang="en-US" sz="1900" dirty="0"/>
          </a:p>
        </p:txBody>
      </p:sp>
      <p:sp>
        <p:nvSpPr>
          <p:cNvPr id="19" name="Step text 3"/>
          <p:cNvSpPr txBox="1"/>
          <p:nvPr/>
        </p:nvSpPr>
        <p:spPr>
          <a:xfrm>
            <a:off x="4663440" y="3063240"/>
            <a:ext cx="1389888" cy="868680"/>
          </a:xfrm>
          <a:prstGeom prst="rect">
            <a:avLst/>
          </a:prstGeom>
          <a:noFill/>
          <a:ln/>
        </p:spPr>
        <p:txBody>
          <a:bodyPr wrap="square" lIns="0" tIns="0" rIns="0" bIns="0" rtlCol="0" anchor="ctr"/>
          <a:lstStyle/>
          <a:p>
            <a:pPr indent="0" marL="0">
              <a:buNone/>
            </a:pPr>
            <a:r>
              <a:rPr lang="en-US" sz="1400" dirty="0">
                <a:solidFill>
                  <a:schemeClr val="tx2"/>
                </a:solidFill>
              </a:rPr>
              <a:t>OpenCV SIFT + RANSAC</a:t>
            </a:r>
            <a:endParaRPr lang="en-US" sz="1400" dirty="0"/>
          </a:p>
          <a:p>
            <a:pPr indent="0" marL="0">
              <a:buNone/>
            </a:pPr>
            <a:r>
              <a:rPr lang="en-US" sz="1400" dirty="0">
                <a:solidFill>
                  <a:schemeClr val="tx2"/>
                </a:solidFill>
              </a:rPr>
              <a:t>to base imagery</a:t>
            </a:r>
            <a:endParaRPr lang="en-US" sz="1400" dirty="0"/>
          </a:p>
        </p:txBody>
      </p:sp>
      <p:sp>
        <p:nvSpPr>
          <p:cNvPr id="20" name="Arrow 3"/>
          <p:cNvSpPr/>
          <p:nvPr/>
        </p:nvSpPr>
        <p:spPr>
          <a:xfrm>
            <a:off x="6163056" y="2697480"/>
            <a:ext cx="219456" cy="274320"/>
          </a:xfrm>
          <a:prstGeom prst="rightArrow">
            <a:avLst/>
          </a:prstGeom>
          <a:solidFill>
            <a:srgbClr val="E8590C"/>
          </a:solidFill>
          <a:ln w="12700">
            <a:solidFill>
              <a:srgbClr val="E8590C"/>
            </a:solidFill>
            <a:prstDash val="solid"/>
          </a:ln>
        </p:spPr>
      </p:sp>
      <p:sp>
        <p:nvSpPr>
          <p:cNvPr id="21" name="Step card 4"/>
          <p:cNvSpPr/>
          <p:nvPr/>
        </p:nvSpPr>
        <p:spPr>
          <a:xfrm>
            <a:off x="6400800" y="1737360"/>
            <a:ext cx="1664208" cy="2286000"/>
          </a:xfrm>
          <a:prstGeom prst="roundRect">
            <a:avLst>
              <a:gd name="adj" fmla="val 6593"/>
            </a:avLst>
          </a:prstGeom>
          <a:solidFill>
            <a:schemeClr val="bg2"/>
          </a:solidFill>
          <a:ln w="12700">
            <a:solidFill>
              <a:schemeClr val="bg2"/>
            </a:solidFill>
            <a:prstDash val="solid"/>
          </a:ln>
        </p:spPr>
      </p:sp>
      <p:sp>
        <p:nvSpPr>
          <p:cNvPr id="22" name="Step 4 badge"/>
          <p:cNvSpPr/>
          <p:nvPr/>
        </p:nvSpPr>
        <p:spPr>
          <a:xfrm>
            <a:off x="6583680" y="1920240"/>
            <a:ext cx="502920" cy="502920"/>
          </a:xfrm>
          <a:prstGeom prst="ellipse">
            <a:avLst/>
          </a:prstGeom>
          <a:solidFill>
            <a:srgbClr val="0F1720"/>
          </a:solidFill>
          <a:ln w="12700">
            <a:solidFill>
              <a:srgbClr val="0F1720"/>
            </a:solidFill>
            <a:prstDash val="solid"/>
          </a:ln>
        </p:spPr>
      </p:sp>
      <p:sp>
        <p:nvSpPr>
          <p:cNvPr id="23" name="Step 4 badge text"/>
          <p:cNvSpPr txBox="1"/>
          <p:nvPr/>
        </p:nvSpPr>
        <p:spPr>
          <a:xfrm>
            <a:off x="658368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4" name="Step head 4"/>
          <p:cNvSpPr txBox="1"/>
          <p:nvPr/>
        </p:nvSpPr>
        <p:spPr>
          <a:xfrm>
            <a:off x="6583680" y="2606040"/>
            <a:ext cx="1389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Change</a:t>
            </a:r>
            <a:endParaRPr lang="en-US" sz="1900" dirty="0"/>
          </a:p>
        </p:txBody>
      </p:sp>
      <p:sp>
        <p:nvSpPr>
          <p:cNvPr id="25" name="Step text 4"/>
          <p:cNvSpPr txBox="1"/>
          <p:nvPr/>
        </p:nvSpPr>
        <p:spPr>
          <a:xfrm>
            <a:off x="6583680" y="3063240"/>
            <a:ext cx="1389888" cy="868680"/>
          </a:xfrm>
          <a:prstGeom prst="rect">
            <a:avLst/>
          </a:prstGeom>
          <a:noFill/>
          <a:ln/>
        </p:spPr>
        <p:txBody>
          <a:bodyPr wrap="square" lIns="0" tIns="0" rIns="0" bIns="0" rtlCol="0" anchor="ctr"/>
          <a:lstStyle/>
          <a:p>
            <a:pPr indent="0" marL="0">
              <a:buNone/>
            </a:pPr>
            <a:r>
              <a:rPr lang="en-US" sz="1400" dirty="0">
                <a:solidFill>
                  <a:schemeClr val="tx2"/>
                </a:solidFill>
              </a:rPr>
              <a:t>Colour diff + DSM−DEM height</a:t>
            </a:r>
            <a:endParaRPr lang="en-US" sz="1400" dirty="0"/>
          </a:p>
        </p:txBody>
      </p:sp>
      <p:sp>
        <p:nvSpPr>
          <p:cNvPr id="26" name="Arrow 4"/>
          <p:cNvSpPr/>
          <p:nvPr/>
        </p:nvSpPr>
        <p:spPr>
          <a:xfrm>
            <a:off x="8083296" y="2697480"/>
            <a:ext cx="219456" cy="274320"/>
          </a:xfrm>
          <a:prstGeom prst="rightArrow">
            <a:avLst/>
          </a:prstGeom>
          <a:solidFill>
            <a:srgbClr val="E8590C"/>
          </a:solidFill>
          <a:ln w="12700">
            <a:solidFill>
              <a:srgbClr val="E8590C"/>
            </a:solidFill>
            <a:prstDash val="solid"/>
          </a:ln>
        </p:spPr>
      </p:sp>
      <p:sp>
        <p:nvSpPr>
          <p:cNvPr id="27" name="Step card 5"/>
          <p:cNvSpPr/>
          <p:nvPr/>
        </p:nvSpPr>
        <p:spPr>
          <a:xfrm>
            <a:off x="8321040" y="1737360"/>
            <a:ext cx="1664208" cy="2286000"/>
          </a:xfrm>
          <a:prstGeom prst="roundRect">
            <a:avLst>
              <a:gd name="adj" fmla="val 6593"/>
            </a:avLst>
          </a:prstGeom>
          <a:solidFill>
            <a:schemeClr val="bg2"/>
          </a:solidFill>
          <a:ln w="12700">
            <a:solidFill>
              <a:schemeClr val="bg2"/>
            </a:solidFill>
            <a:prstDash val="solid"/>
          </a:ln>
        </p:spPr>
      </p:sp>
      <p:sp>
        <p:nvSpPr>
          <p:cNvPr id="28" name="Step 5 badge"/>
          <p:cNvSpPr/>
          <p:nvPr/>
        </p:nvSpPr>
        <p:spPr>
          <a:xfrm>
            <a:off x="8503920" y="1920240"/>
            <a:ext cx="502920" cy="502920"/>
          </a:xfrm>
          <a:prstGeom prst="ellipse">
            <a:avLst/>
          </a:prstGeom>
          <a:solidFill>
            <a:srgbClr val="0F1720"/>
          </a:solidFill>
          <a:ln w="12700">
            <a:solidFill>
              <a:srgbClr val="0F1720"/>
            </a:solidFill>
            <a:prstDash val="solid"/>
          </a:ln>
        </p:spPr>
      </p:sp>
      <p:sp>
        <p:nvSpPr>
          <p:cNvPr id="29" name="Step 5 badge text"/>
          <p:cNvSpPr txBox="1"/>
          <p:nvPr/>
        </p:nvSpPr>
        <p:spPr>
          <a:xfrm>
            <a:off x="850392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30" name="Step head 5"/>
          <p:cNvSpPr txBox="1"/>
          <p:nvPr/>
        </p:nvSpPr>
        <p:spPr>
          <a:xfrm>
            <a:off x="8503920" y="2606040"/>
            <a:ext cx="1389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Roads</a:t>
            </a:r>
            <a:endParaRPr lang="en-US" sz="1900" dirty="0"/>
          </a:p>
        </p:txBody>
      </p:sp>
      <p:sp>
        <p:nvSpPr>
          <p:cNvPr id="31" name="Step text 5"/>
          <p:cNvSpPr txBox="1"/>
          <p:nvPr/>
        </p:nvSpPr>
        <p:spPr>
          <a:xfrm>
            <a:off x="8503920" y="3063240"/>
            <a:ext cx="1389888" cy="868680"/>
          </a:xfrm>
          <a:prstGeom prst="rect">
            <a:avLst/>
          </a:prstGeom>
          <a:noFill/>
          <a:ln/>
        </p:spPr>
        <p:txBody>
          <a:bodyPr wrap="square" lIns="0" tIns="0" rIns="0" bIns="0" rtlCol="0" anchor="ctr"/>
          <a:lstStyle/>
          <a:p>
            <a:pPr indent="0" marL="0">
              <a:buNone/>
            </a:pPr>
            <a:r>
              <a:rPr lang="en-US" sz="1400" dirty="0">
                <a:solidFill>
                  <a:schemeClr val="tx2"/>
                </a:solidFill>
              </a:rPr>
              <a:t>GeoPandas / Shapely</a:t>
            </a:r>
            <a:endParaRPr lang="en-US" sz="1400" dirty="0"/>
          </a:p>
          <a:p>
            <a:pPr indent="0" marL="0">
              <a:buNone/>
            </a:pPr>
            <a:r>
              <a:rPr lang="en-US" sz="1400" dirty="0">
                <a:solidFill>
                  <a:schemeClr val="tx2"/>
                </a:solidFill>
              </a:rPr>
              <a:t>OSM segments</a:t>
            </a:r>
            <a:endParaRPr lang="en-US" sz="1400" dirty="0"/>
          </a:p>
        </p:txBody>
      </p:sp>
      <p:sp>
        <p:nvSpPr>
          <p:cNvPr id="32" name="Arrow 5"/>
          <p:cNvSpPr/>
          <p:nvPr/>
        </p:nvSpPr>
        <p:spPr>
          <a:xfrm>
            <a:off x="10003536" y="2697480"/>
            <a:ext cx="219456" cy="274320"/>
          </a:xfrm>
          <a:prstGeom prst="rightArrow">
            <a:avLst/>
          </a:prstGeom>
          <a:solidFill>
            <a:srgbClr val="E8590C"/>
          </a:solidFill>
          <a:ln w="12700">
            <a:solidFill>
              <a:srgbClr val="E8590C"/>
            </a:solidFill>
            <a:prstDash val="solid"/>
          </a:ln>
        </p:spPr>
      </p:sp>
      <p:sp>
        <p:nvSpPr>
          <p:cNvPr id="33" name="Step card 6"/>
          <p:cNvSpPr/>
          <p:nvPr/>
        </p:nvSpPr>
        <p:spPr>
          <a:xfrm>
            <a:off x="10241280" y="1737360"/>
            <a:ext cx="1664208" cy="2286000"/>
          </a:xfrm>
          <a:prstGeom prst="roundRect">
            <a:avLst>
              <a:gd name="adj" fmla="val 6593"/>
            </a:avLst>
          </a:prstGeom>
          <a:solidFill>
            <a:schemeClr val="bg2"/>
          </a:solidFill>
          <a:ln w="12700">
            <a:solidFill>
              <a:schemeClr val="bg2"/>
            </a:solidFill>
            <a:prstDash val="solid"/>
          </a:ln>
        </p:spPr>
      </p:sp>
      <p:sp>
        <p:nvSpPr>
          <p:cNvPr id="34" name="Step 6 badge"/>
          <p:cNvSpPr/>
          <p:nvPr/>
        </p:nvSpPr>
        <p:spPr>
          <a:xfrm>
            <a:off x="10424160" y="1920240"/>
            <a:ext cx="502920" cy="502920"/>
          </a:xfrm>
          <a:prstGeom prst="ellipse">
            <a:avLst/>
          </a:prstGeom>
          <a:solidFill>
            <a:srgbClr val="E8590C"/>
          </a:solidFill>
          <a:ln w="12700">
            <a:solidFill>
              <a:srgbClr val="E8590C"/>
            </a:solidFill>
            <a:prstDash val="solid"/>
          </a:ln>
        </p:spPr>
      </p:sp>
      <p:sp>
        <p:nvSpPr>
          <p:cNvPr id="35" name="Step 6 badge text"/>
          <p:cNvSpPr txBox="1"/>
          <p:nvPr/>
        </p:nvSpPr>
        <p:spPr>
          <a:xfrm>
            <a:off x="1042416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6" name="Step head 6"/>
          <p:cNvSpPr txBox="1"/>
          <p:nvPr/>
        </p:nvSpPr>
        <p:spPr>
          <a:xfrm>
            <a:off x="10424160" y="2606040"/>
            <a:ext cx="1389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Export</a:t>
            </a:r>
            <a:endParaRPr lang="en-US" sz="1900" dirty="0"/>
          </a:p>
        </p:txBody>
      </p:sp>
      <p:sp>
        <p:nvSpPr>
          <p:cNvPr id="37" name="Step text 6"/>
          <p:cNvSpPr txBox="1"/>
          <p:nvPr/>
        </p:nvSpPr>
        <p:spPr>
          <a:xfrm>
            <a:off x="10424160" y="3063240"/>
            <a:ext cx="1389888" cy="868680"/>
          </a:xfrm>
          <a:prstGeom prst="rect">
            <a:avLst/>
          </a:prstGeom>
          <a:noFill/>
          <a:ln/>
        </p:spPr>
        <p:txBody>
          <a:bodyPr wrap="square" lIns="0" tIns="0" rIns="0" bIns="0" rtlCol="0" anchor="ctr"/>
          <a:lstStyle/>
          <a:p>
            <a:pPr indent="0" marL="0">
              <a:buNone/>
            </a:pPr>
            <a:r>
              <a:rPr lang="en-US" sz="1400" dirty="0">
                <a:solidFill>
                  <a:schemeClr val="tx2"/>
                </a:solidFill>
              </a:rPr>
              <a:t>GDAL formats</a:t>
            </a:r>
            <a:endParaRPr lang="en-US" sz="1400" dirty="0"/>
          </a:p>
          <a:p>
            <a:pPr indent="0" marL="0">
              <a:buNone/>
            </a:pPr>
            <a:r>
              <a:rPr lang="en-US" sz="1400" dirty="0">
                <a:solidFill>
                  <a:schemeClr val="tx2"/>
                </a:solidFill>
              </a:rPr>
              <a:t>+ PDF brief</a:t>
            </a:r>
            <a:endParaRPr lang="en-US" sz="1400" dirty="0"/>
          </a:p>
        </p:txBody>
      </p:sp>
      <p:sp>
        <p:nvSpPr>
          <p:cNvPr id="38" name="Precache card"/>
          <p:cNvSpPr/>
          <p:nvPr/>
        </p:nvSpPr>
        <p:spPr>
          <a:xfrm>
            <a:off x="640080" y="4389120"/>
            <a:ext cx="5349240" cy="1554480"/>
          </a:xfrm>
          <a:prstGeom prst="roundRect">
            <a:avLst>
              <a:gd name="adj" fmla="val 7059"/>
            </a:avLst>
          </a:prstGeom>
          <a:solidFill>
            <a:srgbClr val="0F1720"/>
          </a:solidFill>
          <a:ln w="12700">
            <a:solidFill>
              <a:srgbClr val="0F1720"/>
            </a:solidFill>
            <a:prstDash val="solid"/>
          </a:ln>
        </p:spPr>
      </p:sp>
      <p:sp>
        <p:nvSpPr>
          <p:cNvPr id="39" name="Precache head"/>
          <p:cNvSpPr txBox="1"/>
          <p:nvPr/>
        </p:nvSpPr>
        <p:spPr>
          <a:xfrm>
            <a:off x="868680" y="4526280"/>
            <a:ext cx="4937760" cy="365760"/>
          </a:xfrm>
          <a:prstGeom prst="rect">
            <a:avLst/>
          </a:prstGeom>
          <a:noFill/>
          <a:ln/>
        </p:spPr>
        <p:txBody>
          <a:bodyPr wrap="square" lIns="0" tIns="0" rIns="0" bIns="0" rtlCol="0" anchor="ctr"/>
          <a:lstStyle/>
          <a:p>
            <a:pPr indent="0" marL="0">
              <a:buNone/>
            </a:pPr>
            <a:r>
              <a:rPr lang="en-US" sz="1800" b="1" dirty="0">
                <a:solidFill>
                  <a:srgbClr val="F4A100"/>
                </a:solidFill>
              </a:rPr>
              <a:t>Online once, before any disaster</a:t>
            </a:r>
            <a:endParaRPr lang="en-US" sz="1800" dirty="0"/>
          </a:p>
        </p:txBody>
      </p:sp>
      <p:sp>
        <p:nvSpPr>
          <p:cNvPr id="40" name="Precache text"/>
          <p:cNvSpPr txBox="1"/>
          <p:nvPr/>
        </p:nvSpPr>
        <p:spPr>
          <a:xfrm>
            <a:off x="868680" y="4937760"/>
            <a:ext cx="4937760" cy="914400"/>
          </a:xfrm>
          <a:prstGeom prst="rect">
            <a:avLst/>
          </a:prstGeom>
          <a:noFill/>
          <a:ln/>
        </p:spPr>
        <p:txBody>
          <a:bodyPr wrap="square" lIns="0" tIns="0" rIns="0" bIns="0" rtlCol="0" anchor="ctr"/>
          <a:lstStyle/>
          <a:p>
            <a:pPr indent="0" marL="0">
              <a:buNone/>
            </a:pPr>
            <a:r>
              <a:rPr lang="en-US" sz="1500" dirty="0">
                <a:solidFill>
                  <a:srgbClr val="FFFFFF"/>
                </a:solidFill>
              </a:rPr>
              <a:t>Sentinel-2 or OpenAerialMap base imagery, OpenStreetMap roads, Copernicus DEM. Stored on the laptop.</a:t>
            </a:r>
            <a:endParaRPr lang="en-US" sz="1500" dirty="0"/>
          </a:p>
        </p:txBody>
      </p:sp>
      <p:sp>
        <p:nvSpPr>
          <p:cNvPr id="41" name="Offline card"/>
          <p:cNvSpPr/>
          <p:nvPr/>
        </p:nvSpPr>
        <p:spPr>
          <a:xfrm>
            <a:off x="6172200" y="4389120"/>
            <a:ext cx="5349240" cy="1554480"/>
          </a:xfrm>
          <a:prstGeom prst="roundRect">
            <a:avLst>
              <a:gd name="adj" fmla="val 7059"/>
            </a:avLst>
          </a:prstGeom>
          <a:solidFill>
            <a:srgbClr val="2B9348"/>
          </a:solidFill>
          <a:ln w="12700">
            <a:solidFill>
              <a:srgbClr val="2B9348"/>
            </a:solidFill>
            <a:prstDash val="solid"/>
          </a:ln>
        </p:spPr>
      </p:sp>
      <p:sp>
        <p:nvSpPr>
          <p:cNvPr id="42" name="Offline head"/>
          <p:cNvSpPr txBox="1"/>
          <p:nvPr/>
        </p:nvSpPr>
        <p:spPr>
          <a:xfrm>
            <a:off x="6400800" y="4526280"/>
            <a:ext cx="4937760" cy="365760"/>
          </a:xfrm>
          <a:prstGeom prst="rect">
            <a:avLst/>
          </a:prstGeom>
          <a:noFill/>
          <a:ln/>
        </p:spPr>
        <p:txBody>
          <a:bodyPr wrap="square" lIns="0" tIns="0" rIns="0" bIns="0" rtlCol="0" anchor="ctr"/>
          <a:lstStyle/>
          <a:p>
            <a:pPr indent="0" marL="0">
              <a:buNone/>
            </a:pPr>
            <a:r>
              <a:rPr lang="en-US" sz="1800" b="1" dirty="0">
                <a:solidFill>
                  <a:srgbClr val="FFFFFF"/>
                </a:solidFill>
              </a:rPr>
              <a:t>Offline in the field</a:t>
            </a:r>
            <a:endParaRPr lang="en-US" sz="1800" dirty="0"/>
          </a:p>
        </p:txBody>
      </p:sp>
      <p:sp>
        <p:nvSpPr>
          <p:cNvPr id="43" name="Offline text"/>
          <p:cNvSpPr txBox="1"/>
          <p:nvPr/>
        </p:nvSpPr>
        <p:spPr>
          <a:xfrm>
            <a:off x="6400800" y="4937760"/>
            <a:ext cx="4937760" cy="914400"/>
          </a:xfrm>
          <a:prstGeom prst="rect">
            <a:avLst/>
          </a:prstGeom>
          <a:noFill/>
          <a:ln/>
        </p:spPr>
        <p:txBody>
          <a:bodyPr wrap="square" lIns="0" tIns="0" rIns="0" bIns="0" rtlCol="0" anchor="ctr"/>
          <a:lstStyle/>
          <a:p>
            <a:pPr indent="0" marL="0">
              <a:buNone/>
            </a:pPr>
            <a:r>
              <a:rPr lang="en-US" sz="1500" dirty="0">
                <a:solidFill>
                  <a:srgbClr val="FFFFFF"/>
                </a:solidFill>
              </a:rPr>
              <a:t>Steps 2 to 6 need no network. The mappa package contains no network imports (grep-verified).</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A capture card a stressed pilot can follow</a:t>
            </a:r>
            <a:endParaRPr lang="en-US" sz="3600" dirty="0"/>
          </a:p>
        </p:txBody>
      </p:sp>
      <p:pic>
        <p:nvPicPr>
          <p:cNvPr id="3" name="Capture card image" descr="MAPPA one-page capture card with five numbered rules">    </p:cNvPr>
          <p:cNvPicPr>
            <a:picLocks noChangeAspect="1"/>
          </p:cNvPicPr>
          <p:nvPr/>
        </p:nvPicPr>
        <p:blipFill>
          <a:blip r:embed="rId1"/>
          <a:stretch>
            <a:fillRect/>
          </a:stretch>
        </p:blipFill>
        <p:spPr>
          <a:xfrm>
            <a:off x="822960" y="1371600"/>
            <a:ext cx="3566160" cy="5047488"/>
          </a:xfrm>
          <a:prstGeom prst="rect">
            <a:avLst/>
          </a:prstGeom>
        </p:spPr>
      </p:pic>
      <p:sp>
        <p:nvSpPr>
          <p:cNvPr id="4" name="Rule 1 badge"/>
          <p:cNvSpPr/>
          <p:nvPr/>
        </p:nvSpPr>
        <p:spPr>
          <a:xfrm>
            <a:off x="5029200" y="1417320"/>
            <a:ext cx="548640" cy="548640"/>
          </a:xfrm>
          <a:prstGeom prst="ellipse">
            <a:avLst/>
          </a:prstGeom>
          <a:solidFill>
            <a:srgbClr val="E8590C"/>
          </a:solidFill>
          <a:ln w="12700">
            <a:solidFill>
              <a:srgbClr val="E8590C"/>
            </a:solidFill>
            <a:prstDash val="solid"/>
          </a:ln>
        </p:spPr>
      </p:sp>
      <p:sp>
        <p:nvSpPr>
          <p:cNvPr id="5" name="Rule 1 badge text"/>
          <p:cNvSpPr txBox="1"/>
          <p:nvPr/>
        </p:nvSpPr>
        <p:spPr>
          <a:xfrm>
            <a:off x="5029200"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Rule head 1"/>
          <p:cNvSpPr txBox="1"/>
          <p:nvPr/>
        </p:nvSpPr>
        <p:spPr>
          <a:xfrm>
            <a:off x="5760720" y="1371600"/>
            <a:ext cx="57607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Wait for GPS lock</a:t>
            </a:r>
            <a:endParaRPr lang="en-US" sz="2000" dirty="0"/>
          </a:p>
        </p:txBody>
      </p:sp>
      <p:sp>
        <p:nvSpPr>
          <p:cNvPr id="7" name="Rule text 1"/>
          <p:cNvSpPr txBox="1"/>
          <p:nvPr/>
        </p:nvSpPr>
        <p:spPr>
          <a:xfrm>
            <a:off x="5760720" y="1764792"/>
            <a:ext cx="5760720" cy="365760"/>
          </a:xfrm>
          <a:prstGeom prst="rect">
            <a:avLst/>
          </a:prstGeom>
          <a:noFill/>
          <a:ln/>
        </p:spPr>
        <p:txBody>
          <a:bodyPr wrap="square" lIns="0" tIns="0" rIns="0" bIns="0" rtlCol="0" anchor="ctr"/>
          <a:lstStyle/>
          <a:p>
            <a:pPr indent="0" marL="0">
              <a:buNone/>
            </a:pPr>
            <a:r>
              <a:rPr lang="en-US" sz="1500" dirty="0">
                <a:solidFill>
                  <a:schemeClr val="tx2"/>
                </a:solidFill>
              </a:rPr>
              <a:t>10+ satellites, home point recorded.</a:t>
            </a:r>
            <a:endParaRPr lang="en-US" sz="1500" dirty="0"/>
          </a:p>
        </p:txBody>
      </p:sp>
      <p:sp>
        <p:nvSpPr>
          <p:cNvPr id="8" name="Rule 2 badge"/>
          <p:cNvSpPr/>
          <p:nvPr/>
        </p:nvSpPr>
        <p:spPr>
          <a:xfrm>
            <a:off x="5029200" y="2377440"/>
            <a:ext cx="548640" cy="548640"/>
          </a:xfrm>
          <a:prstGeom prst="ellipse">
            <a:avLst/>
          </a:prstGeom>
          <a:solidFill>
            <a:srgbClr val="E8590C"/>
          </a:solidFill>
          <a:ln w="12700">
            <a:solidFill>
              <a:srgbClr val="E8590C"/>
            </a:solidFill>
            <a:prstDash val="solid"/>
          </a:ln>
        </p:spPr>
      </p:sp>
      <p:sp>
        <p:nvSpPr>
          <p:cNvPr id="9" name="Rule 2 badge text"/>
          <p:cNvSpPr txBox="1"/>
          <p:nvPr/>
        </p:nvSpPr>
        <p:spPr>
          <a:xfrm>
            <a:off x="502920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Rule head 2"/>
          <p:cNvSpPr txBox="1"/>
          <p:nvPr/>
        </p:nvSpPr>
        <p:spPr>
          <a:xfrm>
            <a:off x="5760720" y="2331720"/>
            <a:ext cx="57607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80–100 m, camera down</a:t>
            </a:r>
            <a:endParaRPr lang="en-US" sz="2000" dirty="0"/>
          </a:p>
        </p:txBody>
      </p:sp>
      <p:sp>
        <p:nvSpPr>
          <p:cNvPr id="11" name="Rule text 2"/>
          <p:cNvSpPr txBox="1"/>
          <p:nvPr/>
        </p:nvSpPr>
        <p:spPr>
          <a:xfrm>
            <a:off x="5760720" y="2724912"/>
            <a:ext cx="5760720" cy="365760"/>
          </a:xfrm>
          <a:prstGeom prst="rect">
            <a:avLst/>
          </a:prstGeom>
          <a:noFill/>
          <a:ln/>
        </p:spPr>
        <p:txBody>
          <a:bodyPr wrap="square" lIns="0" tIns="0" rIns="0" bIns="0" rtlCol="0" anchor="ctr"/>
          <a:lstStyle/>
          <a:p>
            <a:pPr indent="0" marL="0">
              <a:buNone/>
            </a:pPr>
            <a:r>
              <a:rPr lang="en-US" sz="1500" dirty="0">
                <a:solidFill>
                  <a:schemeClr val="tx2"/>
                </a:solidFill>
              </a:rPr>
              <a:t>Fly the pre-loaded KML grid.</a:t>
            </a:r>
            <a:endParaRPr lang="en-US" sz="1500" dirty="0"/>
          </a:p>
        </p:txBody>
      </p:sp>
      <p:sp>
        <p:nvSpPr>
          <p:cNvPr id="12" name="Rule 3 badge"/>
          <p:cNvSpPr/>
          <p:nvPr/>
        </p:nvSpPr>
        <p:spPr>
          <a:xfrm>
            <a:off x="5029200" y="3337560"/>
            <a:ext cx="548640" cy="548640"/>
          </a:xfrm>
          <a:prstGeom prst="ellipse">
            <a:avLst/>
          </a:prstGeom>
          <a:solidFill>
            <a:srgbClr val="E8590C"/>
          </a:solidFill>
          <a:ln w="12700">
            <a:solidFill>
              <a:srgbClr val="E8590C"/>
            </a:solidFill>
            <a:prstDash val="solid"/>
          </a:ln>
        </p:spPr>
      </p:sp>
      <p:sp>
        <p:nvSpPr>
          <p:cNvPr id="13" name="Rule 3 badge text"/>
          <p:cNvSpPr txBox="1"/>
          <p:nvPr/>
        </p:nvSpPr>
        <p:spPr>
          <a:xfrm>
            <a:off x="5029200" y="3337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Rule head 3"/>
          <p:cNvSpPr txBox="1"/>
          <p:nvPr/>
        </p:nvSpPr>
        <p:spPr>
          <a:xfrm>
            <a:off x="5760720" y="3291840"/>
            <a:ext cx="57607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Photos, not video</a:t>
            </a:r>
            <a:endParaRPr lang="en-US" sz="2000" dirty="0"/>
          </a:p>
        </p:txBody>
      </p:sp>
      <p:sp>
        <p:nvSpPr>
          <p:cNvPr id="15" name="Rule text 3"/>
          <p:cNvSpPr txBox="1"/>
          <p:nvPr/>
        </p:nvSpPr>
        <p:spPr>
          <a:xfrm>
            <a:off x="5760720" y="3685032"/>
            <a:ext cx="5760720" cy="365760"/>
          </a:xfrm>
          <a:prstGeom prst="rect">
            <a:avLst/>
          </a:prstGeom>
          <a:noFill/>
          <a:ln/>
        </p:spPr>
        <p:txBody>
          <a:bodyPr wrap="square" lIns="0" tIns="0" rIns="0" bIns="0" rtlCol="0" anchor="ctr"/>
          <a:lstStyle/>
          <a:p>
            <a:pPr indent="0" marL="0">
              <a:buNone/>
            </a:pPr>
            <a:r>
              <a:rPr lang="en-US" sz="1500" dirty="0">
                <a:solidFill>
                  <a:schemeClr val="tx2"/>
                </a:solidFill>
              </a:rPr>
              <a:t>Every 2 s, 75% forward / 65% side overlap.</a:t>
            </a:r>
            <a:endParaRPr lang="en-US" sz="1500" dirty="0"/>
          </a:p>
        </p:txBody>
      </p:sp>
      <p:sp>
        <p:nvSpPr>
          <p:cNvPr id="16" name="Rule 4 badge"/>
          <p:cNvSpPr/>
          <p:nvPr/>
        </p:nvSpPr>
        <p:spPr>
          <a:xfrm>
            <a:off x="5029200" y="4297680"/>
            <a:ext cx="548640" cy="548640"/>
          </a:xfrm>
          <a:prstGeom prst="ellipse">
            <a:avLst/>
          </a:prstGeom>
          <a:solidFill>
            <a:srgbClr val="E8590C"/>
          </a:solidFill>
          <a:ln w="12700">
            <a:solidFill>
              <a:srgbClr val="E8590C"/>
            </a:solidFill>
            <a:prstDash val="solid"/>
          </a:ln>
        </p:spPr>
      </p:sp>
      <p:sp>
        <p:nvSpPr>
          <p:cNvPr id="17" name="Rule 4 badge text"/>
          <p:cNvSpPr txBox="1"/>
          <p:nvPr/>
        </p:nvSpPr>
        <p:spPr>
          <a:xfrm>
            <a:off x="5029200" y="4297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Rule head 4"/>
          <p:cNvSpPr txBox="1"/>
          <p:nvPr/>
        </p:nvSpPr>
        <p:spPr>
          <a:xfrm>
            <a:off x="5760720" y="4251960"/>
            <a:ext cx="57607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One oblique loop</a:t>
            </a:r>
            <a:endParaRPr lang="en-US" sz="2000" dirty="0"/>
          </a:p>
        </p:txBody>
      </p:sp>
      <p:sp>
        <p:nvSpPr>
          <p:cNvPr id="19" name="Rule text 4"/>
          <p:cNvSpPr txBox="1"/>
          <p:nvPr/>
        </p:nvSpPr>
        <p:spPr>
          <a:xfrm>
            <a:off x="5760720" y="4645152"/>
            <a:ext cx="5760720" cy="365760"/>
          </a:xfrm>
          <a:prstGeom prst="rect">
            <a:avLst/>
          </a:prstGeom>
          <a:noFill/>
          <a:ln/>
        </p:spPr>
        <p:txBody>
          <a:bodyPr wrap="square" lIns="0" tIns="0" rIns="0" bIns="0" rtlCol="0" anchor="ctr"/>
          <a:lstStyle/>
          <a:p>
            <a:pPr indent="0" marL="0">
              <a:buNone/>
            </a:pPr>
            <a:r>
              <a:rPr lang="en-US" sz="1500" dirty="0">
                <a:solidFill>
                  <a:schemeClr val="tx2"/>
                </a:solidFill>
              </a:rPr>
              <a:t>45° around the slide toe and head.</a:t>
            </a:r>
            <a:endParaRPr lang="en-US" sz="1500" dirty="0"/>
          </a:p>
        </p:txBody>
      </p:sp>
      <p:sp>
        <p:nvSpPr>
          <p:cNvPr id="20" name="Rule 5 badge"/>
          <p:cNvSpPr/>
          <p:nvPr/>
        </p:nvSpPr>
        <p:spPr>
          <a:xfrm>
            <a:off x="5029200" y="5257800"/>
            <a:ext cx="548640" cy="548640"/>
          </a:xfrm>
          <a:prstGeom prst="ellipse">
            <a:avLst/>
          </a:prstGeom>
          <a:solidFill>
            <a:srgbClr val="E8590C"/>
          </a:solidFill>
          <a:ln w="12700">
            <a:solidFill>
              <a:srgbClr val="E8590C"/>
            </a:solidFill>
            <a:prstDash val="solid"/>
          </a:ln>
        </p:spPr>
      </p:sp>
      <p:sp>
        <p:nvSpPr>
          <p:cNvPr id="21" name="Rule 5 badge text"/>
          <p:cNvSpPr txBox="1"/>
          <p:nvPr/>
        </p:nvSpPr>
        <p:spPr>
          <a:xfrm>
            <a:off x="5029200" y="5257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Rule head 5"/>
          <p:cNvSpPr txBox="1"/>
          <p:nvPr/>
        </p:nvSpPr>
        <p:spPr>
          <a:xfrm>
            <a:off x="5760720" y="5212080"/>
            <a:ext cx="57607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Land at launch point</a:t>
            </a:r>
            <a:endParaRPr lang="en-US" sz="2000" dirty="0"/>
          </a:p>
        </p:txBody>
      </p:sp>
      <p:sp>
        <p:nvSpPr>
          <p:cNvPr id="23" name="Rule text 5"/>
          <p:cNvSpPr txBox="1"/>
          <p:nvPr/>
        </p:nvSpPr>
        <p:spPr>
          <a:xfrm>
            <a:off x="5760720" y="5605272"/>
            <a:ext cx="5760720" cy="365760"/>
          </a:xfrm>
          <a:prstGeom prst="rect">
            <a:avLst/>
          </a:prstGeom>
          <a:noFill/>
          <a:ln/>
        </p:spPr>
        <p:txBody>
          <a:bodyPr wrap="square" lIns="0" tIns="0" rIns="0" bIns="0" rtlCol="0" anchor="ctr"/>
          <a:lstStyle/>
          <a:p>
            <a:pPr indent="0" marL="0">
              <a:buNone/>
            </a:pPr>
            <a:r>
              <a:rPr lang="en-US" sz="1500" dirty="0">
                <a:solidFill>
                  <a:schemeClr val="tx2"/>
                </a:solidFill>
              </a:rPr>
              <a:t>Photograph the screen. Copy every photo.</a:t>
            </a:r>
            <a:endParaRPr lang="en-US" sz="1500" dirty="0"/>
          </a:p>
        </p:txBody>
      </p:sp>
      <p:sp>
        <p:nvSpPr>
          <p:cNvPr id="24" name="Planner footnote"/>
          <p:cNvSpPr txBox="1"/>
          <p:nvPr/>
        </p:nvSpPr>
        <p:spPr>
          <a:xfrm>
            <a:off x="5029200" y="6172200"/>
            <a:ext cx="6035040" cy="548640"/>
          </a:xfrm>
          <a:prstGeom prst="rect">
            <a:avLst/>
          </a:prstGeom>
          <a:noFill/>
          <a:ln/>
        </p:spPr>
        <p:txBody>
          <a:bodyPr wrap="square" lIns="0" tIns="0" rIns="0" bIns="0" rtlCol="0" anchor="ctr"/>
          <a:lstStyle/>
          <a:p>
            <a:pPr indent="0" marL="0">
              <a:buNone/>
            </a:pPr>
            <a:r>
              <a:rPr lang="en-US" sz="1200" dirty="0">
                <a:solidFill>
                  <a:schemeClr val="accent6"/>
                </a:solidFill>
              </a:rPr>
              <a:t>Planner: mappa plan gives GSD, speed and image count, and writes the lawnmower KML. Example 600 × 500 m at 90 m: 338 photos, 3.2 cm/px (assumed 1/1.3" 12 MP camera).</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Georeferencing without GCPs, with the error stated</a:t>
            </a:r>
            <a:endParaRPr lang="en-US" sz="3600" dirty="0"/>
          </a:p>
        </p:txBody>
      </p:sp>
      <p:sp>
        <p:nvSpPr>
          <p:cNvPr id="3" name="How 1 badge"/>
          <p:cNvSpPr/>
          <p:nvPr/>
        </p:nvSpPr>
        <p:spPr>
          <a:xfrm>
            <a:off x="640080" y="1554480"/>
            <a:ext cx="548640" cy="548640"/>
          </a:xfrm>
          <a:prstGeom prst="ellipse">
            <a:avLst/>
          </a:prstGeom>
          <a:solidFill>
            <a:srgbClr val="0F1720"/>
          </a:solidFill>
          <a:ln w="12700">
            <a:solidFill>
              <a:srgbClr val="0F1720"/>
            </a:solidFill>
            <a:prstDash val="solid"/>
          </a:ln>
        </p:spPr>
      </p:sp>
      <p:sp>
        <p:nvSpPr>
          <p:cNvPr id="4" name="How 1 badge text"/>
          <p:cNvSpPr txBox="1"/>
          <p:nvPr/>
        </p:nvSpPr>
        <p:spPr>
          <a:xfrm>
            <a:off x="64008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How head 1"/>
          <p:cNvSpPr txBox="1"/>
          <p:nvPr/>
        </p:nvSpPr>
        <p:spPr>
          <a:xfrm>
            <a:off x="1417320" y="1508760"/>
            <a:ext cx="45720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Start from camera GPS</a:t>
            </a:r>
            <a:endParaRPr lang="en-US" sz="2000" dirty="0"/>
          </a:p>
        </p:txBody>
      </p:sp>
      <p:sp>
        <p:nvSpPr>
          <p:cNvPr id="6" name="How text 1"/>
          <p:cNvSpPr txBox="1"/>
          <p:nvPr/>
        </p:nvSpPr>
        <p:spPr>
          <a:xfrm>
            <a:off x="1417320" y="1920240"/>
            <a:ext cx="4572000" cy="822960"/>
          </a:xfrm>
          <a:prstGeom prst="rect">
            <a:avLst/>
          </a:prstGeom>
          <a:noFill/>
          <a:ln/>
        </p:spPr>
        <p:txBody>
          <a:bodyPr wrap="square" lIns="0" tIns="0" rIns="0" bIns="0" rtlCol="0" anchor="ctr"/>
          <a:lstStyle/>
          <a:p>
            <a:pPr indent="0" marL="0">
              <a:buNone/>
            </a:pPr>
            <a:r>
              <a:rPr lang="en-US" sz="1500" dirty="0">
                <a:solidFill>
                  <a:schemeClr val="tx2"/>
                </a:solidFill>
              </a:rPr>
              <a:t>ODM places the ortho using EXIF only. Typically metres off.</a:t>
            </a:r>
            <a:endParaRPr lang="en-US" sz="1500" dirty="0"/>
          </a:p>
        </p:txBody>
      </p:sp>
      <p:sp>
        <p:nvSpPr>
          <p:cNvPr id="7" name="How 2 badge"/>
          <p:cNvSpPr/>
          <p:nvPr/>
        </p:nvSpPr>
        <p:spPr>
          <a:xfrm>
            <a:off x="640080" y="2926080"/>
            <a:ext cx="548640" cy="548640"/>
          </a:xfrm>
          <a:prstGeom prst="ellipse">
            <a:avLst/>
          </a:prstGeom>
          <a:solidFill>
            <a:srgbClr val="0F1720"/>
          </a:solidFill>
          <a:ln w="12700">
            <a:solidFill>
              <a:srgbClr val="0F1720"/>
            </a:solidFill>
            <a:prstDash val="solid"/>
          </a:ln>
        </p:spPr>
      </p:sp>
      <p:sp>
        <p:nvSpPr>
          <p:cNvPr id="8" name="How 2 badge text"/>
          <p:cNvSpPr txBox="1"/>
          <p:nvPr/>
        </p:nvSpPr>
        <p:spPr>
          <a:xfrm>
            <a:off x="640080" y="2926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How head 2"/>
          <p:cNvSpPr txBox="1"/>
          <p:nvPr/>
        </p:nvSpPr>
        <p:spPr>
          <a:xfrm>
            <a:off x="1417320" y="2880360"/>
            <a:ext cx="45720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Register to base imagery</a:t>
            </a:r>
            <a:endParaRPr lang="en-US" sz="2000" dirty="0"/>
          </a:p>
        </p:txBody>
      </p:sp>
      <p:sp>
        <p:nvSpPr>
          <p:cNvPr id="10" name="How text 2"/>
          <p:cNvSpPr txBox="1"/>
          <p:nvPr/>
        </p:nvSpPr>
        <p:spPr>
          <a:xfrm>
            <a:off x="1417320" y="3291840"/>
            <a:ext cx="4572000" cy="822960"/>
          </a:xfrm>
          <a:prstGeom prst="rect">
            <a:avLst/>
          </a:prstGeom>
          <a:noFill/>
          <a:ln/>
        </p:spPr>
        <p:txBody>
          <a:bodyPr wrap="square" lIns="0" tIns="0" rIns="0" bIns="0" rtlCol="0" anchor="ctr"/>
          <a:lstStyle/>
          <a:p>
            <a:pPr indent="0" marL="0">
              <a:buNone/>
            </a:pPr>
            <a:r>
              <a:rPr lang="en-US" sz="1500" dirty="0">
                <a:solidFill>
                  <a:schemeClr val="tx2"/>
                </a:solidFill>
              </a:rPr>
              <a:t>SIFT features, RANSAC similarity, applied to the geotransform. Pixels are not resampled.</a:t>
            </a:r>
            <a:endParaRPr lang="en-US" sz="1500" dirty="0"/>
          </a:p>
        </p:txBody>
      </p:sp>
      <p:sp>
        <p:nvSpPr>
          <p:cNvPr id="11" name="How 3 badge"/>
          <p:cNvSpPr/>
          <p:nvPr/>
        </p:nvSpPr>
        <p:spPr>
          <a:xfrm>
            <a:off x="640080" y="4297680"/>
            <a:ext cx="548640" cy="548640"/>
          </a:xfrm>
          <a:prstGeom prst="ellipse">
            <a:avLst/>
          </a:prstGeom>
          <a:solidFill>
            <a:srgbClr val="0F1720"/>
          </a:solidFill>
          <a:ln w="12700">
            <a:solidFill>
              <a:srgbClr val="0F1720"/>
            </a:solidFill>
            <a:prstDash val="solid"/>
          </a:ln>
        </p:spPr>
      </p:sp>
      <p:sp>
        <p:nvSpPr>
          <p:cNvPr id="12" name="How 3 badge text"/>
          <p:cNvSpPr txBox="1"/>
          <p:nvPr/>
        </p:nvSpPr>
        <p:spPr>
          <a:xfrm>
            <a:off x="640080" y="4297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How head 3"/>
          <p:cNvSpPr txBox="1"/>
          <p:nvPr/>
        </p:nvSpPr>
        <p:spPr>
          <a:xfrm>
            <a:off x="1417320" y="4251960"/>
            <a:ext cx="45720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State the bound</a:t>
            </a:r>
            <a:endParaRPr lang="en-US" sz="2000" dirty="0"/>
          </a:p>
        </p:txBody>
      </p:sp>
      <p:sp>
        <p:nvSpPr>
          <p:cNvPr id="14" name="How text 3"/>
          <p:cNvSpPr txBox="1"/>
          <p:nvPr/>
        </p:nvSpPr>
        <p:spPr>
          <a:xfrm>
            <a:off x="1417320" y="4663440"/>
            <a:ext cx="4572000" cy="822960"/>
          </a:xfrm>
          <a:prstGeom prst="rect">
            <a:avLst/>
          </a:prstGeom>
          <a:noFill/>
          <a:ln/>
        </p:spPr>
        <p:txBody>
          <a:bodyPr wrap="square" lIns="0" tIns="0" rIns="0" bIns="0" rtlCol="0" anchor="ctr"/>
          <a:lstStyle/>
          <a:p>
            <a:pPr indent="0" marL="0">
              <a:buNone/>
            </a:pPr>
            <a:r>
              <a:rPr lang="en-US" sz="1500" dirty="0">
                <a:solidFill>
                  <a:schemeClr val="tx2"/>
                </a:solidFill>
              </a:rPr>
              <a:t>acc95 = √(base² + (2·RMS)²), printed on every output.</a:t>
            </a:r>
            <a:endParaRPr lang="en-US" sz="1500" dirty="0"/>
          </a:p>
        </p:txBody>
      </p:sp>
      <p:sp>
        <p:nvSpPr>
          <p:cNvPr id="15" name="Stat card 1"/>
          <p:cNvSpPr/>
          <p:nvPr/>
        </p:nvSpPr>
        <p:spPr>
          <a:xfrm>
            <a:off x="6400800" y="1463040"/>
            <a:ext cx="5120640" cy="1371600"/>
          </a:xfrm>
          <a:prstGeom prst="roundRect">
            <a:avLst>
              <a:gd name="adj" fmla="val 8000"/>
            </a:avLst>
          </a:prstGeom>
          <a:solidFill>
            <a:schemeClr val="bg2"/>
          </a:solidFill>
          <a:ln w="12700">
            <a:solidFill>
              <a:schemeClr val="bg2"/>
            </a:solidFill>
            <a:prstDash val="solid"/>
          </a:ln>
        </p:spPr>
      </p:sp>
      <p:sp>
        <p:nvSpPr>
          <p:cNvPr id="16" name="Stat number 1"/>
          <p:cNvSpPr txBox="1"/>
          <p:nvPr/>
        </p:nvSpPr>
        <p:spPr>
          <a:xfrm>
            <a:off x="6629400" y="1572768"/>
            <a:ext cx="2377440" cy="1143000"/>
          </a:xfrm>
          <a:prstGeom prst="rect">
            <a:avLst/>
          </a:prstGeom>
          <a:noFill/>
          <a:ln/>
        </p:spPr>
        <p:txBody>
          <a:bodyPr wrap="square" lIns="0" tIns="0" rIns="0" bIns="0" rtlCol="0" anchor="ctr"/>
          <a:lstStyle/>
          <a:p>
            <a:pPr indent="0" marL="0">
              <a:buNone/>
            </a:pPr>
            <a:r>
              <a:rPr lang="en-US" sz="3200" b="1" dirty="0">
                <a:solidFill>
                  <a:srgbClr val="E8590C"/>
                </a:solidFill>
                <a:latin typeface="Cambria" pitchFamily="34" charset="0"/>
                <a:ea typeface="Cambria" pitchFamily="34" charset="-122"/>
                <a:cs typeface="Cambria" pitchFamily="34" charset="-120"/>
              </a:rPr>
              <a:t>±10 m</a:t>
            </a:r>
            <a:endParaRPr lang="en-US" sz="3200" dirty="0"/>
          </a:p>
        </p:txBody>
      </p:sp>
      <p:sp>
        <p:nvSpPr>
          <p:cNvPr id="17" name="Stat label 1"/>
          <p:cNvSpPr txBox="1"/>
          <p:nvPr/>
        </p:nvSpPr>
        <p:spPr>
          <a:xfrm>
            <a:off x="9052560" y="1572768"/>
            <a:ext cx="2331720" cy="1143000"/>
          </a:xfrm>
          <a:prstGeom prst="rect">
            <a:avLst/>
          </a:prstGeom>
          <a:noFill/>
          <a:ln/>
        </p:spPr>
        <p:txBody>
          <a:bodyPr wrap="square" lIns="0" tIns="0" rIns="0" bIns="0" rtlCol="0" anchor="ctr"/>
          <a:lstStyle/>
          <a:p>
            <a:pPr indent="0" marL="0">
              <a:buNone/>
            </a:pPr>
            <a:r>
              <a:rPr lang="en-US" sz="1300" dirty="0">
                <a:solidFill>
                  <a:schemeClr val="tx2"/>
                </a:solidFill>
              </a:rPr>
              <a:t>Stated absolute accuracy, 95%. Limited by the 10 m base layer. Unverified against ground truth.</a:t>
            </a:r>
            <a:endParaRPr lang="en-US" sz="1300" dirty="0"/>
          </a:p>
        </p:txBody>
      </p:sp>
      <p:sp>
        <p:nvSpPr>
          <p:cNvPr id="18" name="Stat card 2"/>
          <p:cNvSpPr/>
          <p:nvPr/>
        </p:nvSpPr>
        <p:spPr>
          <a:xfrm>
            <a:off x="6400800" y="3017520"/>
            <a:ext cx="5120640" cy="1371600"/>
          </a:xfrm>
          <a:prstGeom prst="roundRect">
            <a:avLst>
              <a:gd name="adj" fmla="val 8000"/>
            </a:avLst>
          </a:prstGeom>
          <a:solidFill>
            <a:schemeClr val="bg2"/>
          </a:solidFill>
          <a:ln w="12700">
            <a:solidFill>
              <a:schemeClr val="bg2"/>
            </a:solidFill>
            <a:prstDash val="solid"/>
          </a:ln>
        </p:spPr>
      </p:sp>
      <p:sp>
        <p:nvSpPr>
          <p:cNvPr id="19" name="Stat number 2"/>
          <p:cNvSpPr txBox="1"/>
          <p:nvPr/>
        </p:nvSpPr>
        <p:spPr>
          <a:xfrm>
            <a:off x="6629400" y="3127248"/>
            <a:ext cx="2377440" cy="1143000"/>
          </a:xfrm>
          <a:prstGeom prst="rect">
            <a:avLst/>
          </a:prstGeom>
          <a:noFill/>
          <a:ln/>
        </p:spPr>
        <p:txBody>
          <a:bodyPr wrap="square" lIns="0" tIns="0" rIns="0" bIns="0" rtlCol="0" anchor="ctr"/>
          <a:lstStyle/>
          <a:p>
            <a:pPr indent="0" marL="0">
              <a:buNone/>
            </a:pPr>
            <a:r>
              <a:rPr lang="en-US" sz="3200" b="1" dirty="0">
                <a:solidFill>
                  <a:srgbClr val="0F1720"/>
                </a:solidFill>
                <a:latin typeface="Cambria" pitchFamily="34" charset="0"/>
                <a:ea typeface="Cambria" pitchFamily="34" charset="-122"/>
                <a:cs typeface="Cambria" pitchFamily="34" charset="-120"/>
              </a:rPr>
              <a:t>5.7 → 0.14 m</a:t>
            </a:r>
            <a:endParaRPr lang="en-US" sz="3200" dirty="0"/>
          </a:p>
        </p:txBody>
      </p:sp>
      <p:sp>
        <p:nvSpPr>
          <p:cNvPr id="20" name="Stat label 2"/>
          <p:cNvSpPr txBox="1"/>
          <p:nvPr/>
        </p:nvSpPr>
        <p:spPr>
          <a:xfrm>
            <a:off x="9052560" y="3127248"/>
            <a:ext cx="2331720" cy="1143000"/>
          </a:xfrm>
          <a:prstGeom prst="rect">
            <a:avLst/>
          </a:prstGeom>
          <a:noFill/>
          <a:ln/>
        </p:spPr>
        <p:txBody>
          <a:bodyPr wrap="square" lIns="0" tIns="0" rIns="0" bIns="0" rtlCol="0" anchor="ctr"/>
          <a:lstStyle/>
          <a:p>
            <a:pPr indent="0" marL="0">
              <a:buNone/>
            </a:pPr>
            <a:r>
              <a:rPr lang="en-US" sz="1300" dirty="0">
                <a:solidFill>
                  <a:schemeClr val="tx2"/>
                </a:solidFill>
              </a:rPr>
              <a:t>Mean error before → after, on a synthetic scene with a known injected GPS error (25 check points).</a:t>
            </a:r>
            <a:endParaRPr lang="en-US" sz="1300" dirty="0"/>
          </a:p>
        </p:txBody>
      </p:sp>
      <p:sp>
        <p:nvSpPr>
          <p:cNvPr id="21" name="Stat card 3"/>
          <p:cNvSpPr/>
          <p:nvPr/>
        </p:nvSpPr>
        <p:spPr>
          <a:xfrm>
            <a:off x="6400800" y="4572000"/>
            <a:ext cx="5120640" cy="1371600"/>
          </a:xfrm>
          <a:prstGeom prst="roundRect">
            <a:avLst>
              <a:gd name="adj" fmla="val 8000"/>
            </a:avLst>
          </a:prstGeom>
          <a:solidFill>
            <a:schemeClr val="bg2"/>
          </a:solidFill>
          <a:ln w="12700">
            <a:solidFill>
              <a:schemeClr val="bg2"/>
            </a:solidFill>
            <a:prstDash val="solid"/>
          </a:ln>
        </p:spPr>
      </p:sp>
      <p:sp>
        <p:nvSpPr>
          <p:cNvPr id="22" name="Stat number 3"/>
          <p:cNvSpPr txBox="1"/>
          <p:nvPr/>
        </p:nvSpPr>
        <p:spPr>
          <a:xfrm>
            <a:off x="6629400" y="4681728"/>
            <a:ext cx="2377440" cy="1143000"/>
          </a:xfrm>
          <a:prstGeom prst="rect">
            <a:avLst/>
          </a:prstGeom>
          <a:noFill/>
          <a:ln/>
        </p:spPr>
        <p:txBody>
          <a:bodyPr wrap="square" lIns="0" tIns="0" rIns="0" bIns="0" rtlCol="0" anchor="ctr"/>
          <a:lstStyle/>
          <a:p>
            <a:pPr indent="0" marL="0">
              <a:buNone/>
            </a:pPr>
            <a:r>
              <a:rPr lang="en-US" sz="3200" b="1" dirty="0">
                <a:solidFill>
                  <a:srgbClr val="3A86A8"/>
                </a:solidFill>
                <a:latin typeface="Cambria" pitchFamily="34" charset="0"/>
                <a:ea typeface="Cambria" pitchFamily="34" charset="-122"/>
                <a:cs typeface="Cambria" pitchFamily="34" charset="-120"/>
              </a:rPr>
              <a:t>0.3–2.7 m</a:t>
            </a:r>
            <a:endParaRPr lang="en-US" sz="3200" dirty="0"/>
          </a:p>
        </p:txBody>
      </p:sp>
      <p:sp>
        <p:nvSpPr>
          <p:cNvPr id="23" name="Stat label 3"/>
          <p:cNvSpPr txBox="1"/>
          <p:nvPr/>
        </p:nvSpPr>
        <p:spPr>
          <a:xfrm>
            <a:off x="9052560" y="4681728"/>
            <a:ext cx="2331720" cy="1143000"/>
          </a:xfrm>
          <a:prstGeom prst="rect">
            <a:avLst/>
          </a:prstGeom>
          <a:noFill/>
          <a:ln/>
        </p:spPr>
        <p:txBody>
          <a:bodyPr wrap="square" lIns="0" tIns="0" rIns="0" bIns="0" rtlCol="0" anchor="ctr"/>
          <a:lstStyle/>
          <a:p>
            <a:pPr indent="0" marL="0">
              <a:buNone/>
            </a:pPr>
            <a:r>
              <a:rPr lang="en-US" sz="1300" dirty="0">
                <a:solidFill>
                  <a:schemeClr val="tx2"/>
                </a:solidFill>
              </a:rPr>
              <a:t>Error after correction across 12 synthetic runs (10 m and 20 m base layers).</a:t>
            </a:r>
            <a:endParaRPr lang="en-US" sz="1300" dirty="0"/>
          </a:p>
        </p:txBody>
      </p:sp>
      <p:sp>
        <p:nvSpPr>
          <p:cNvPr id="24" name="Synthetic caveat"/>
          <p:cNvSpPr txBox="1"/>
          <p:nvPr/>
        </p:nvSpPr>
        <p:spPr>
          <a:xfrm>
            <a:off x="640080" y="5852160"/>
            <a:ext cx="5486400" cy="548640"/>
          </a:xfrm>
          <a:prstGeom prst="rect">
            <a:avLst/>
          </a:prstGeom>
          <a:noFill/>
          <a:ln/>
        </p:spPr>
        <p:txBody>
          <a:bodyPr wrap="square" lIns="0" tIns="0" rIns="0" bIns="0" rtlCol="0" anchor="ctr"/>
          <a:lstStyle/>
          <a:p>
            <a:pPr indent="0" marL="0">
              <a:buNone/>
            </a:pPr>
            <a:r>
              <a:rPr lang="en-US" sz="1400" i="1" dirty="0">
                <a:solidFill>
                  <a:schemeClr val="accent2"/>
                </a:solidFill>
              </a:rPr>
              <a:t>Synthetic results show the method works. They are not a field accuracy claim.</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What changed, and which roads are blocked</a:t>
            </a:r>
            <a:endParaRPr lang="en-US" sz="3600" dirty="0"/>
          </a:p>
        </p:txBody>
      </p:sp>
      <p:pic>
        <p:nvPicPr>
          <p:cNvPr id="3" name="Map preview" descr="Simulated orthophoto with detected change in red and roads coloured by status">    </p:cNvPr>
          <p:cNvPicPr>
            <a:picLocks noChangeAspect="1"/>
          </p:cNvPicPr>
          <p:nvPr/>
        </p:nvPicPr>
        <p:blipFill>
          <a:blip r:embed="rId1"/>
          <a:stretch>
            <a:fillRect/>
          </a:stretch>
        </p:blipFill>
        <p:spPr>
          <a:xfrm>
            <a:off x="640080" y="1371600"/>
            <a:ext cx="5029200" cy="5029200"/>
          </a:xfrm>
          <a:prstGeom prst="rect">
            <a:avLst/>
          </a:prstGeom>
        </p:spPr>
      </p:pic>
      <p:sp>
        <p:nvSpPr>
          <p:cNvPr id="4" name="Sim label"/>
          <p:cNvSpPr txBox="1"/>
          <p:nvPr/>
        </p:nvSpPr>
        <p:spPr>
          <a:xfrm>
            <a:off x="640080" y="6446520"/>
            <a:ext cx="5029200" cy="274320"/>
          </a:xfrm>
          <a:prstGeom prst="rect">
            <a:avLst/>
          </a:prstGeom>
          <a:noFill/>
          <a:ln/>
        </p:spPr>
        <p:txBody>
          <a:bodyPr wrap="square" lIns="0" tIns="0" rIns="0" bIns="0" rtlCol="0" anchor="ctr"/>
          <a:lstStyle/>
          <a:p>
            <a:pPr indent="0" marL="0">
              <a:buNone/>
            </a:pPr>
            <a:r>
              <a:rPr lang="en-US" sz="1100" b="1" dirty="0">
                <a:solidFill>
                  <a:srgbClr val="D62828"/>
                </a:solidFill>
              </a:rPr>
              <a:t>SIMULATED DEMO SCENE</a:t>
            </a:r>
            <a:endParaRPr lang="en-US" sz="1100" dirty="0"/>
          </a:p>
        </p:txBody>
      </p:sp>
      <p:sp>
        <p:nvSpPr>
          <p:cNvPr id="5" name="Chip BLOCKED"/>
          <p:cNvSpPr/>
          <p:nvPr/>
        </p:nvSpPr>
        <p:spPr>
          <a:xfrm>
            <a:off x="6126480" y="1463040"/>
            <a:ext cx="1737360" cy="502920"/>
          </a:xfrm>
          <a:prstGeom prst="roundRect">
            <a:avLst>
              <a:gd name="adj" fmla="val 18182"/>
            </a:avLst>
          </a:prstGeom>
          <a:solidFill>
            <a:srgbClr val="D62828"/>
          </a:solidFill>
          <a:ln w="12700">
            <a:solidFill>
              <a:srgbClr val="D62828"/>
            </a:solidFill>
            <a:prstDash val="solid"/>
          </a:ln>
        </p:spPr>
      </p:sp>
      <p:sp>
        <p:nvSpPr>
          <p:cNvPr id="6" name="Chip text BLOCKED"/>
          <p:cNvSpPr txBox="1"/>
          <p:nvPr/>
        </p:nvSpPr>
        <p:spPr>
          <a:xfrm>
            <a:off x="6126480" y="1463040"/>
            <a:ext cx="1737360" cy="502920"/>
          </a:xfrm>
          <a:prstGeom prst="rect">
            <a:avLst/>
          </a:prstGeom>
          <a:noFill/>
          <a:ln/>
        </p:spPr>
        <p:txBody>
          <a:bodyPr wrap="square" lIns="0" tIns="0" rIns="0" bIns="0" rtlCol="0" anchor="ctr"/>
          <a:lstStyle/>
          <a:p>
            <a:pPr algn="ctr" indent="0" marL="0">
              <a:buNone/>
            </a:pPr>
            <a:r>
              <a:rPr lang="en-US" sz="1600" b="1" dirty="0">
                <a:solidFill>
                  <a:srgbClr val="FFFFFF"/>
                </a:solidFill>
              </a:rPr>
              <a:t>BLOCKED</a:t>
            </a:r>
            <a:endParaRPr lang="en-US" sz="1600" dirty="0"/>
          </a:p>
        </p:txBody>
      </p:sp>
      <p:sp>
        <p:nvSpPr>
          <p:cNvPr id="7" name="Rule BLOCKED"/>
          <p:cNvSpPr txBox="1"/>
          <p:nvPr/>
        </p:nvSpPr>
        <p:spPr>
          <a:xfrm>
            <a:off x="8092440" y="1417320"/>
            <a:ext cx="3474720" cy="822960"/>
          </a:xfrm>
          <a:prstGeom prst="rect">
            <a:avLst/>
          </a:prstGeom>
          <a:noFill/>
          <a:ln/>
        </p:spPr>
        <p:txBody>
          <a:bodyPr wrap="square" lIns="0" tIns="0" rIns="0" bIns="0" rtlCol="0" anchor="ctr"/>
          <a:lstStyle/>
          <a:p>
            <a:pPr indent="0" marL="0">
              <a:buNone/>
            </a:pPr>
            <a:r>
              <a:rPr lang="en-US" sz="1500" dirty="0">
                <a:solidFill>
                  <a:schemeClr val="tx2"/>
                </a:solidFill>
              </a:rPr>
              <a:t>≥ 40% of the road buffer changed AND height anomaly ≥ 0.5 m</a:t>
            </a:r>
            <a:endParaRPr lang="en-US" sz="1500" dirty="0"/>
          </a:p>
        </p:txBody>
      </p:sp>
      <p:sp>
        <p:nvSpPr>
          <p:cNvPr id="8" name="Chip UNCERTAIN"/>
          <p:cNvSpPr/>
          <p:nvPr/>
        </p:nvSpPr>
        <p:spPr>
          <a:xfrm>
            <a:off x="6126480" y="2514600"/>
            <a:ext cx="1737360" cy="502920"/>
          </a:xfrm>
          <a:prstGeom prst="roundRect">
            <a:avLst>
              <a:gd name="adj" fmla="val 18182"/>
            </a:avLst>
          </a:prstGeom>
          <a:solidFill>
            <a:srgbClr val="F4A100"/>
          </a:solidFill>
          <a:ln w="12700">
            <a:solidFill>
              <a:srgbClr val="F4A100"/>
            </a:solidFill>
            <a:prstDash val="solid"/>
          </a:ln>
        </p:spPr>
      </p:sp>
      <p:sp>
        <p:nvSpPr>
          <p:cNvPr id="9" name="Chip text UNCERTAIN"/>
          <p:cNvSpPr txBox="1"/>
          <p:nvPr/>
        </p:nvSpPr>
        <p:spPr>
          <a:xfrm>
            <a:off x="6126480" y="2514600"/>
            <a:ext cx="1737360" cy="502920"/>
          </a:xfrm>
          <a:prstGeom prst="rect">
            <a:avLst/>
          </a:prstGeom>
          <a:noFill/>
          <a:ln/>
        </p:spPr>
        <p:txBody>
          <a:bodyPr wrap="square" lIns="0" tIns="0" rIns="0" bIns="0" rtlCol="0" anchor="ctr"/>
          <a:lstStyle/>
          <a:p>
            <a:pPr algn="ctr" indent="0" marL="0">
              <a:buNone/>
            </a:pPr>
            <a:r>
              <a:rPr lang="en-US" sz="1600" b="1" dirty="0">
                <a:solidFill>
                  <a:srgbClr val="0F1720"/>
                </a:solidFill>
              </a:rPr>
              <a:t>UNCERTAIN</a:t>
            </a:r>
            <a:endParaRPr lang="en-US" sz="1600" dirty="0"/>
          </a:p>
        </p:txBody>
      </p:sp>
      <p:sp>
        <p:nvSpPr>
          <p:cNvPr id="10" name="Rule UNCERTAIN"/>
          <p:cNvSpPr txBox="1"/>
          <p:nvPr/>
        </p:nvSpPr>
        <p:spPr>
          <a:xfrm>
            <a:off x="8092440" y="2468880"/>
            <a:ext cx="3474720" cy="822960"/>
          </a:xfrm>
          <a:prstGeom prst="rect">
            <a:avLst/>
          </a:prstGeom>
          <a:noFill/>
          <a:ln/>
        </p:spPr>
        <p:txBody>
          <a:bodyPr wrap="square" lIns="0" tIns="0" rIns="0" bIns="0" rtlCol="0" anchor="ctr"/>
          <a:lstStyle/>
          <a:p>
            <a:pPr indent="0" marL="0">
              <a:buNone/>
            </a:pPr>
            <a:r>
              <a:rPr lang="en-US" sz="1500" dirty="0">
                <a:solidFill>
                  <a:schemeClr val="tx2"/>
                </a:solidFill>
              </a:rPr>
              <a:t>≥ 15% changed, no height confirmation</a:t>
            </a:r>
            <a:endParaRPr lang="en-US" sz="1500" dirty="0"/>
          </a:p>
        </p:txBody>
      </p:sp>
      <p:sp>
        <p:nvSpPr>
          <p:cNvPr id="11" name="Chip CLEAR"/>
          <p:cNvSpPr/>
          <p:nvPr/>
        </p:nvSpPr>
        <p:spPr>
          <a:xfrm>
            <a:off x="6126480" y="3566160"/>
            <a:ext cx="1737360" cy="502920"/>
          </a:xfrm>
          <a:prstGeom prst="roundRect">
            <a:avLst>
              <a:gd name="adj" fmla="val 18182"/>
            </a:avLst>
          </a:prstGeom>
          <a:solidFill>
            <a:srgbClr val="2B9348"/>
          </a:solidFill>
          <a:ln w="12700">
            <a:solidFill>
              <a:srgbClr val="2B9348"/>
            </a:solidFill>
            <a:prstDash val="solid"/>
          </a:ln>
        </p:spPr>
      </p:sp>
      <p:sp>
        <p:nvSpPr>
          <p:cNvPr id="12" name="Chip text CLEAR"/>
          <p:cNvSpPr txBox="1"/>
          <p:nvPr/>
        </p:nvSpPr>
        <p:spPr>
          <a:xfrm>
            <a:off x="6126480" y="3566160"/>
            <a:ext cx="1737360" cy="502920"/>
          </a:xfrm>
          <a:prstGeom prst="rect">
            <a:avLst/>
          </a:prstGeom>
          <a:noFill/>
          <a:ln/>
        </p:spPr>
        <p:txBody>
          <a:bodyPr wrap="square" lIns="0" tIns="0" rIns="0" bIns="0" rtlCol="0" anchor="ctr"/>
          <a:lstStyle/>
          <a:p>
            <a:pPr algn="ctr" indent="0" marL="0">
              <a:buNone/>
            </a:pPr>
            <a:r>
              <a:rPr lang="en-US" sz="1600" b="1" dirty="0">
                <a:solidFill>
                  <a:srgbClr val="FFFFFF"/>
                </a:solidFill>
              </a:rPr>
              <a:t>CLEAR</a:t>
            </a:r>
            <a:endParaRPr lang="en-US" sz="1600" dirty="0"/>
          </a:p>
        </p:txBody>
      </p:sp>
      <p:sp>
        <p:nvSpPr>
          <p:cNvPr id="13" name="Rule CLEAR"/>
          <p:cNvSpPr txBox="1"/>
          <p:nvPr/>
        </p:nvSpPr>
        <p:spPr>
          <a:xfrm>
            <a:off x="8092440" y="3520440"/>
            <a:ext cx="3474720" cy="822960"/>
          </a:xfrm>
          <a:prstGeom prst="rect">
            <a:avLst/>
          </a:prstGeom>
          <a:noFill/>
          <a:ln/>
        </p:spPr>
        <p:txBody>
          <a:bodyPr wrap="square" lIns="0" tIns="0" rIns="0" bIns="0" rtlCol="0" anchor="ctr"/>
          <a:lstStyle/>
          <a:p>
            <a:pPr indent="0" marL="0">
              <a:buNone/>
            </a:pPr>
            <a:r>
              <a:rPr lang="en-US" sz="1500" dirty="0">
                <a:solidFill>
                  <a:schemeClr val="tx2"/>
                </a:solidFill>
              </a:rPr>
              <a:t>Little or no change</a:t>
            </a:r>
            <a:endParaRPr lang="en-US" sz="1500" dirty="0"/>
          </a:p>
        </p:txBody>
      </p:sp>
      <p:sp>
        <p:nvSpPr>
          <p:cNvPr id="14" name="Method card"/>
          <p:cNvSpPr/>
          <p:nvPr/>
        </p:nvSpPr>
        <p:spPr>
          <a:xfrm>
            <a:off x="6126480" y="4709160"/>
            <a:ext cx="5394960" cy="1600200"/>
          </a:xfrm>
          <a:prstGeom prst="roundRect">
            <a:avLst>
              <a:gd name="adj" fmla="val 6857"/>
            </a:avLst>
          </a:prstGeom>
          <a:solidFill>
            <a:schemeClr val="bg2"/>
          </a:solidFill>
          <a:ln w="12700">
            <a:solidFill>
              <a:schemeClr val="bg2"/>
            </a:solidFill>
            <a:prstDash val="solid"/>
          </a:ln>
        </p:spPr>
      </p:sp>
      <p:sp>
        <p:nvSpPr>
          <p:cNvPr id="15" name="Method text"/>
          <p:cNvSpPr txBox="1"/>
          <p:nvPr/>
        </p:nvSpPr>
        <p:spPr>
          <a:xfrm>
            <a:off x="6355080" y="4846320"/>
            <a:ext cx="4937760" cy="1371600"/>
          </a:xfrm>
          <a:prstGeom prst="rect">
            <a:avLst/>
          </a:prstGeom>
          <a:noFill/>
          <a:ln/>
        </p:spPr>
        <p:txBody>
          <a:bodyPr wrap="square" lIns="0" tIns="0" rIns="0" bIns="0" rtlCol="0" anchor="ctr"/>
          <a:lstStyle/>
          <a:p>
            <a:pPr indent="0" marL="0">
              <a:buNone/>
            </a:pPr>
            <a:r>
              <a:rPr lang="en-US" sz="1400" dirty="0">
                <a:solidFill>
                  <a:schemeClr val="tx1"/>
                </a:solidFill>
              </a:rPr>
              <a:t>Change = colour difference after radiometric normalisation, plus DSM−DEM height with the vertical bias removed. Roads: 20 m segments, 5 m buffer. Thresholds are tunable and not field-calibrated.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Result: a one-page brief responders can act on</a:t>
            </a:r>
            <a:endParaRPr lang="en-US" sz="3600" dirty="0"/>
          </a:p>
        </p:txBody>
      </p:sp>
      <p:pic>
        <p:nvPicPr>
          <p:cNvPr id="3" name="Brief page" descr="One-page MAPPA PDF brief with map, tables and accuracy statement">    </p:cNvPr>
          <p:cNvPicPr>
            <a:picLocks noChangeAspect="1"/>
          </p:cNvPicPr>
          <p:nvPr/>
        </p:nvPicPr>
        <p:blipFill>
          <a:blip r:embed="rId1"/>
          <a:stretch>
            <a:fillRect/>
          </a:stretch>
        </p:blipFill>
        <p:spPr>
          <a:xfrm>
            <a:off x="822960" y="1371600"/>
            <a:ext cx="3566160" cy="5047488"/>
          </a:xfrm>
          <a:prstGeom prst="rect">
            <a:avLst/>
          </a:prstGeom>
        </p:spPr>
      </p:pic>
      <p:sp>
        <p:nvSpPr>
          <p:cNvPr id="4" name="Result card 1"/>
          <p:cNvSpPr/>
          <p:nvPr/>
        </p:nvSpPr>
        <p:spPr>
          <a:xfrm>
            <a:off x="5120640" y="1417320"/>
            <a:ext cx="6400800" cy="1143000"/>
          </a:xfrm>
          <a:prstGeom prst="roundRect">
            <a:avLst>
              <a:gd name="adj" fmla="val 9600"/>
            </a:avLst>
          </a:prstGeom>
          <a:solidFill>
            <a:schemeClr val="bg2"/>
          </a:solidFill>
          <a:ln w="12700">
            <a:solidFill>
              <a:schemeClr val="bg2"/>
            </a:solidFill>
            <a:prstDash val="solid"/>
          </a:ln>
        </p:spPr>
      </p:sp>
      <p:sp>
        <p:nvSpPr>
          <p:cNvPr id="5" name="Result number 1"/>
          <p:cNvSpPr txBox="1"/>
          <p:nvPr/>
        </p:nvSpPr>
        <p:spPr>
          <a:xfrm>
            <a:off x="5349240" y="1508760"/>
            <a:ext cx="2286000" cy="960120"/>
          </a:xfrm>
          <a:prstGeom prst="rect">
            <a:avLst/>
          </a:prstGeom>
          <a:noFill/>
          <a:ln/>
        </p:spPr>
        <p:txBody>
          <a:bodyPr wrap="square" lIns="0" tIns="0" rIns="0" bIns="0" rtlCol="0" anchor="ctr"/>
          <a:lstStyle/>
          <a:p>
            <a:pPr indent="0" marL="0">
              <a:buNone/>
            </a:pPr>
            <a:r>
              <a:rPr lang="en-US" sz="3400" b="1" dirty="0">
                <a:solidFill>
                  <a:srgbClr val="D62828"/>
                </a:solidFill>
                <a:latin typeface="Cambria" pitchFamily="34" charset="0"/>
                <a:ea typeface="Cambria" pitchFamily="34" charset="-122"/>
                <a:cs typeface="Cambria" pitchFamily="34" charset="-120"/>
              </a:rPr>
              <a:t>79 m</a:t>
            </a:r>
            <a:endParaRPr lang="en-US" sz="3400" dirty="0"/>
          </a:p>
        </p:txBody>
      </p:sp>
      <p:sp>
        <p:nvSpPr>
          <p:cNvPr id="6" name="Result label 1"/>
          <p:cNvSpPr txBox="1"/>
          <p:nvPr/>
        </p:nvSpPr>
        <p:spPr>
          <a:xfrm>
            <a:off x="7680960" y="1508760"/>
            <a:ext cx="3657600" cy="960120"/>
          </a:xfrm>
          <a:prstGeom prst="rect">
            <a:avLst/>
          </a:prstGeom>
          <a:noFill/>
          <a:ln/>
        </p:spPr>
        <p:txBody>
          <a:bodyPr wrap="square" lIns="0" tIns="0" rIns="0" bIns="0" rtlCol="0" anchor="ctr"/>
          <a:lstStyle/>
          <a:p>
            <a:pPr indent="0" marL="0">
              <a:buNone/>
            </a:pPr>
            <a:r>
              <a:rPr lang="en-US" sz="1400" dirty="0">
                <a:solidFill>
                  <a:schemeClr val="tx2"/>
                </a:solidFill>
              </a:rPr>
              <a:t>Blocked road found: NH-7 Main Road 59 m, Hill Track 20 m</a:t>
            </a:r>
            <a:endParaRPr lang="en-US" sz="1400" dirty="0"/>
          </a:p>
        </p:txBody>
      </p:sp>
      <p:sp>
        <p:nvSpPr>
          <p:cNvPr id="7" name="Result card 2"/>
          <p:cNvSpPr/>
          <p:nvPr/>
        </p:nvSpPr>
        <p:spPr>
          <a:xfrm>
            <a:off x="5120640" y="2743200"/>
            <a:ext cx="6400800" cy="1143000"/>
          </a:xfrm>
          <a:prstGeom prst="roundRect">
            <a:avLst>
              <a:gd name="adj" fmla="val 9600"/>
            </a:avLst>
          </a:prstGeom>
          <a:solidFill>
            <a:schemeClr val="bg2"/>
          </a:solidFill>
          <a:ln w="12700">
            <a:solidFill>
              <a:schemeClr val="bg2"/>
            </a:solidFill>
            <a:prstDash val="solid"/>
          </a:ln>
        </p:spPr>
      </p:sp>
      <p:sp>
        <p:nvSpPr>
          <p:cNvPr id="8" name="Result number 2"/>
          <p:cNvSpPr txBox="1"/>
          <p:nvPr/>
        </p:nvSpPr>
        <p:spPr>
          <a:xfrm>
            <a:off x="5349240" y="2834640"/>
            <a:ext cx="2286000" cy="960120"/>
          </a:xfrm>
          <a:prstGeom prst="rect">
            <a:avLst/>
          </a:prstGeom>
          <a:noFill/>
          <a:ln/>
        </p:spPr>
        <p:txBody>
          <a:bodyPr wrap="square" lIns="0" tIns="0" rIns="0" bIns="0" rtlCol="0" anchor="ctr"/>
          <a:lstStyle/>
          <a:p>
            <a:pPr indent="0" marL="0">
              <a:buNone/>
            </a:pPr>
            <a:r>
              <a:rPr lang="en-US" sz="3400" b="1" dirty="0">
                <a:solidFill>
                  <a:srgbClr val="0F1720"/>
                </a:solidFill>
                <a:latin typeface="Cambria" pitchFamily="34" charset="0"/>
                <a:ea typeface="Cambria" pitchFamily="34" charset="-122"/>
                <a:cs typeface="Cambria" pitchFamily="34" charset="-120"/>
              </a:rPr>
              <a:t>13</a:t>
            </a:r>
            <a:endParaRPr lang="en-US" sz="3400" dirty="0"/>
          </a:p>
        </p:txBody>
      </p:sp>
      <p:sp>
        <p:nvSpPr>
          <p:cNvPr id="9" name="Result label 2"/>
          <p:cNvSpPr txBox="1"/>
          <p:nvPr/>
        </p:nvSpPr>
        <p:spPr>
          <a:xfrm>
            <a:off x="7680960" y="2834640"/>
            <a:ext cx="3657600" cy="960120"/>
          </a:xfrm>
          <a:prstGeom prst="rect">
            <a:avLst/>
          </a:prstGeom>
          <a:noFill/>
          <a:ln/>
        </p:spPr>
        <p:txBody>
          <a:bodyPr wrap="square" lIns="0" tIns="0" rIns="0" bIns="0" rtlCol="0" anchor="ctr"/>
          <a:lstStyle/>
          <a:p>
            <a:pPr indent="0" marL="0">
              <a:buNone/>
            </a:pPr>
            <a:r>
              <a:rPr lang="en-US" sz="1400" dirty="0">
                <a:solidFill>
                  <a:schemeClr val="tx2"/>
                </a:solidFill>
              </a:rPr>
              <a:t>Change patches, 33,651 m², on a 1.43 km² scene</a:t>
            </a:r>
            <a:endParaRPr lang="en-US" sz="1400" dirty="0"/>
          </a:p>
        </p:txBody>
      </p:sp>
      <p:sp>
        <p:nvSpPr>
          <p:cNvPr id="10" name="Result card 3"/>
          <p:cNvSpPr/>
          <p:nvPr/>
        </p:nvSpPr>
        <p:spPr>
          <a:xfrm>
            <a:off x="5120640" y="4069080"/>
            <a:ext cx="6400800" cy="1143000"/>
          </a:xfrm>
          <a:prstGeom prst="roundRect">
            <a:avLst>
              <a:gd name="adj" fmla="val 9600"/>
            </a:avLst>
          </a:prstGeom>
          <a:solidFill>
            <a:schemeClr val="bg2"/>
          </a:solidFill>
          <a:ln w="12700">
            <a:solidFill>
              <a:schemeClr val="bg2"/>
            </a:solidFill>
            <a:prstDash val="solid"/>
          </a:ln>
        </p:spPr>
      </p:sp>
      <p:sp>
        <p:nvSpPr>
          <p:cNvPr id="11" name="Result number 3"/>
          <p:cNvSpPr txBox="1"/>
          <p:nvPr/>
        </p:nvSpPr>
        <p:spPr>
          <a:xfrm>
            <a:off x="5349240" y="4160520"/>
            <a:ext cx="2286000" cy="960120"/>
          </a:xfrm>
          <a:prstGeom prst="rect">
            <a:avLst/>
          </a:prstGeom>
          <a:noFill/>
          <a:ln/>
        </p:spPr>
        <p:txBody>
          <a:bodyPr wrap="square" lIns="0" tIns="0" rIns="0" bIns="0" rtlCol="0" anchor="ctr"/>
          <a:lstStyle/>
          <a:p>
            <a:pPr indent="0" marL="0">
              <a:buNone/>
            </a:pPr>
            <a:r>
              <a:rPr lang="en-US" sz="3400" b="1" dirty="0">
                <a:solidFill>
                  <a:srgbClr val="3A86A8"/>
                </a:solidFill>
                <a:latin typeface="Cambria" pitchFamily="34" charset="0"/>
                <a:ea typeface="Cambria" pitchFamily="34" charset="-122"/>
                <a:cs typeface="Cambria" pitchFamily="34" charset="-120"/>
              </a:rPr>
              <a:t>1.0 / 1.0</a:t>
            </a:r>
            <a:endParaRPr lang="en-US" sz="3400" dirty="0"/>
          </a:p>
        </p:txBody>
      </p:sp>
      <p:sp>
        <p:nvSpPr>
          <p:cNvPr id="12" name="Result label 3"/>
          <p:cNvSpPr txBox="1"/>
          <p:nvPr/>
        </p:nvSpPr>
        <p:spPr>
          <a:xfrm>
            <a:off x="7680960" y="4160520"/>
            <a:ext cx="3657600" cy="960120"/>
          </a:xfrm>
          <a:prstGeom prst="rect">
            <a:avLst/>
          </a:prstGeom>
          <a:noFill/>
          <a:ln/>
        </p:spPr>
        <p:txBody>
          <a:bodyPr wrap="square" lIns="0" tIns="0" rIns="0" bIns="0" rtlCol="0" anchor="ctr"/>
          <a:lstStyle/>
          <a:p>
            <a:pPr indent="0" marL="0">
              <a:buNone/>
            </a:pPr>
            <a:r>
              <a:rPr lang="en-US" sz="1400" dirty="0">
                <a:solidFill>
                  <a:schemeClr val="tx2"/>
                </a:solidFill>
              </a:rPr>
              <a:t>Road precision / recall vs known truth. Synthetic scene only.</a:t>
            </a:r>
            <a:endParaRPr lang="en-US" sz="1400" dirty="0"/>
          </a:p>
        </p:txBody>
      </p:sp>
      <p:sp>
        <p:nvSpPr>
          <p:cNvPr id="13" name="Formats card"/>
          <p:cNvSpPr/>
          <p:nvPr/>
        </p:nvSpPr>
        <p:spPr>
          <a:xfrm>
            <a:off x="5120640" y="5440680"/>
            <a:ext cx="6400800" cy="1234440"/>
          </a:xfrm>
          <a:prstGeom prst="roundRect">
            <a:avLst>
              <a:gd name="adj" fmla="val 8889"/>
            </a:avLst>
          </a:prstGeom>
          <a:solidFill>
            <a:srgbClr val="0F1720"/>
          </a:solidFill>
          <a:ln w="12700">
            <a:solidFill>
              <a:srgbClr val="0F1720"/>
            </a:solidFill>
            <a:prstDash val="solid"/>
          </a:ln>
        </p:spPr>
      </p:sp>
      <p:sp>
        <p:nvSpPr>
          <p:cNvPr id="14" name="Formats head"/>
          <p:cNvSpPr txBox="1"/>
          <p:nvPr/>
        </p:nvSpPr>
        <p:spPr>
          <a:xfrm>
            <a:off x="5349240" y="5532120"/>
            <a:ext cx="5943600" cy="365760"/>
          </a:xfrm>
          <a:prstGeom prst="rect">
            <a:avLst/>
          </a:prstGeom>
          <a:noFill/>
          <a:ln/>
        </p:spPr>
        <p:txBody>
          <a:bodyPr wrap="square" lIns="0" tIns="0" rIns="0" bIns="0" rtlCol="0" anchor="ctr"/>
          <a:lstStyle/>
          <a:p>
            <a:pPr indent="0" marL="0">
              <a:buNone/>
            </a:pPr>
            <a:r>
              <a:rPr lang="en-US" sz="1600" b="1" dirty="0">
                <a:solidFill>
                  <a:srgbClr val="F4A100"/>
                </a:solidFill>
              </a:rPr>
              <a:t>Formats responders already open</a:t>
            </a:r>
            <a:endParaRPr lang="en-US" sz="1600" dirty="0"/>
          </a:p>
        </p:txBody>
      </p:sp>
      <p:sp>
        <p:nvSpPr>
          <p:cNvPr id="15" name="Formats text"/>
          <p:cNvSpPr txBox="1"/>
          <p:nvPr/>
        </p:nvSpPr>
        <p:spPr>
          <a:xfrm>
            <a:off x="5349240" y="5943600"/>
            <a:ext cx="5943600" cy="640080"/>
          </a:xfrm>
          <a:prstGeom prst="rect">
            <a:avLst/>
          </a:prstGeom>
          <a:noFill/>
          <a:ln/>
        </p:spPr>
        <p:txBody>
          <a:bodyPr wrap="square" lIns="0" tIns="0" rIns="0" bIns="0" rtlCol="0" anchor="ctr"/>
          <a:lstStyle/>
          <a:p>
            <a:pPr indent="0" marL="0">
              <a:buNone/>
            </a:pPr>
            <a:r>
              <a:rPr lang="en-US" sz="1400" dirty="0">
                <a:solidFill>
                  <a:srgbClr val="FFFFFF"/>
                </a:solidFill>
              </a:rPr>
              <a:t>GeoTIFF · GeoPackage · GeoJSON · KML · CSV · PDF. All 10 outputs re-opened by independent readers and verified.</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Colour alone missed every blocked road</a:t>
            </a:r>
            <a:endParaRPr lang="en-US" sz="3600" dirty="0"/>
          </a:p>
        </p:txBody>
      </p:sp>
      <p:graphicFrame>
        <p:nvGraphicFramePr>
          <p:cNvPr id="3" name="Chart 0" descr=""/>
          <p:cNvGraphicFramePr/>
          <p:nvPr/>
        </p:nvGraphicFramePr>
        <p:xfrm>
          <a:off x="640080" y="146304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Insight card 1"/>
          <p:cNvSpPr/>
          <p:nvPr/>
        </p:nvSpPr>
        <p:spPr>
          <a:xfrm>
            <a:off x="7589520" y="1554480"/>
            <a:ext cx="3931920" cy="1371600"/>
          </a:xfrm>
          <a:prstGeom prst="roundRect">
            <a:avLst>
              <a:gd name="adj" fmla="val 8000"/>
            </a:avLst>
          </a:prstGeom>
          <a:solidFill>
            <a:schemeClr val="bg2"/>
          </a:solidFill>
          <a:ln w="12700">
            <a:solidFill>
              <a:schemeClr val="bg2"/>
            </a:solidFill>
            <a:prstDash val="solid"/>
          </a:ln>
        </p:spPr>
      </p:sp>
      <p:sp>
        <p:nvSpPr>
          <p:cNvPr id="5" name="Insight head 1"/>
          <p:cNvSpPr txBox="1"/>
          <p:nvPr/>
        </p:nvSpPr>
        <p:spPr>
          <a:xfrm>
            <a:off x="7818120" y="1664208"/>
            <a:ext cx="3566160" cy="365760"/>
          </a:xfrm>
          <a:prstGeom prst="rect">
            <a:avLst/>
          </a:prstGeom>
          <a:noFill/>
          <a:ln/>
        </p:spPr>
        <p:txBody>
          <a:bodyPr wrap="square" lIns="0" tIns="0" rIns="0" bIns="0" rtlCol="0" anchor="ctr"/>
          <a:lstStyle/>
          <a:p>
            <a:pPr indent="0" marL="0">
              <a:buNone/>
            </a:pPr>
            <a:r>
              <a:rPr lang="en-US" sz="1800" b="1" dirty="0">
                <a:solidFill>
                  <a:srgbClr val="E8590C"/>
                </a:solidFill>
                <a:latin typeface="Cambria" pitchFamily="34" charset="0"/>
                <a:ea typeface="Cambria" pitchFamily="34" charset="-122"/>
                <a:cs typeface="Cambria" pitchFamily="34" charset="-120"/>
              </a:rPr>
              <a:t>Why</a:t>
            </a:r>
            <a:endParaRPr lang="en-US" sz="1800" dirty="0"/>
          </a:p>
        </p:txBody>
      </p:sp>
      <p:sp>
        <p:nvSpPr>
          <p:cNvPr id="6" name="Insight text 1"/>
          <p:cNvSpPr txBox="1"/>
          <p:nvPr/>
        </p:nvSpPr>
        <p:spPr>
          <a:xfrm>
            <a:off x="7818120" y="2057400"/>
            <a:ext cx="3566160" cy="822960"/>
          </a:xfrm>
          <a:prstGeom prst="rect">
            <a:avLst/>
          </a:prstGeom>
          <a:noFill/>
          <a:ln/>
        </p:spPr>
        <p:txBody>
          <a:bodyPr wrap="square" lIns="0" tIns="0" rIns="0" bIns="0" rtlCol="0" anchor="ctr"/>
          <a:lstStyle/>
          <a:p>
            <a:pPr indent="0" marL="0">
              <a:buNone/>
            </a:pPr>
            <a:r>
              <a:rPr lang="en-US" sz="1400" dirty="0">
                <a:solidFill>
                  <a:schemeClr val="tx1"/>
                </a:solidFill>
              </a:rPr>
              <a:t>Debris on a dirt road looks like the road. Height is the signal.</a:t>
            </a:r>
            <a:endParaRPr lang="en-US" sz="1400" dirty="0"/>
          </a:p>
        </p:txBody>
      </p:sp>
      <p:sp>
        <p:nvSpPr>
          <p:cNvPr id="7" name="Insight card 2"/>
          <p:cNvSpPr/>
          <p:nvPr/>
        </p:nvSpPr>
        <p:spPr>
          <a:xfrm>
            <a:off x="7589520" y="3108960"/>
            <a:ext cx="3931920" cy="1371600"/>
          </a:xfrm>
          <a:prstGeom prst="roundRect">
            <a:avLst>
              <a:gd name="adj" fmla="val 8000"/>
            </a:avLst>
          </a:prstGeom>
          <a:solidFill>
            <a:schemeClr val="bg2"/>
          </a:solidFill>
          <a:ln w="12700">
            <a:solidFill>
              <a:schemeClr val="bg2"/>
            </a:solidFill>
            <a:prstDash val="solid"/>
          </a:ln>
        </p:spPr>
      </p:sp>
      <p:sp>
        <p:nvSpPr>
          <p:cNvPr id="8" name="Insight head 2"/>
          <p:cNvSpPr txBox="1"/>
          <p:nvPr/>
        </p:nvSpPr>
        <p:spPr>
          <a:xfrm>
            <a:off x="7818120" y="3218688"/>
            <a:ext cx="3566160" cy="365760"/>
          </a:xfrm>
          <a:prstGeom prst="rect">
            <a:avLst/>
          </a:prstGeom>
          <a:noFill/>
          <a:ln/>
        </p:spPr>
        <p:txBody>
          <a:bodyPr wrap="square" lIns="0" tIns="0" rIns="0" bIns="0" rtlCol="0" anchor="ctr"/>
          <a:lstStyle/>
          <a:p>
            <a:pPr indent="0" marL="0">
              <a:buNone/>
            </a:pPr>
            <a:r>
              <a:rPr lang="en-US" sz="1800" b="1" dirty="0">
                <a:solidFill>
                  <a:srgbClr val="E8590C"/>
                </a:solidFill>
                <a:latin typeface="Cambria" pitchFamily="34" charset="0"/>
                <a:ea typeface="Cambria" pitchFamily="34" charset="-122"/>
                <a:cs typeface="Cambria" pitchFamily="34" charset="-120"/>
              </a:rPr>
              <a:t>Impact</a:t>
            </a:r>
            <a:endParaRPr lang="en-US" sz="1800" dirty="0"/>
          </a:p>
        </p:txBody>
      </p:sp>
      <p:sp>
        <p:nvSpPr>
          <p:cNvPr id="9" name="Insight text 2"/>
          <p:cNvSpPr txBox="1"/>
          <p:nvPr/>
        </p:nvSpPr>
        <p:spPr>
          <a:xfrm>
            <a:off x="7818120" y="3611880"/>
            <a:ext cx="3566160" cy="822960"/>
          </a:xfrm>
          <a:prstGeom prst="rect">
            <a:avLst/>
          </a:prstGeom>
          <a:noFill/>
          <a:ln/>
        </p:spPr>
        <p:txBody>
          <a:bodyPr wrap="square" lIns="0" tIns="0" rIns="0" bIns="0" rtlCol="0" anchor="ctr"/>
          <a:lstStyle/>
          <a:p>
            <a:pPr indent="0" marL="0">
              <a:buNone/>
            </a:pPr>
            <a:r>
              <a:rPr lang="en-US" sz="1400" dirty="0">
                <a:solidFill>
                  <a:schemeClr val="tx1"/>
                </a:solidFill>
              </a:rPr>
              <a:t>Precision stayed 1.0 with the cue. Colour-only gave false BLOCKED calls at a 20 m base.</a:t>
            </a:r>
            <a:endParaRPr lang="en-US" sz="1400" dirty="0"/>
          </a:p>
        </p:txBody>
      </p:sp>
      <p:sp>
        <p:nvSpPr>
          <p:cNvPr id="10" name="Insight card 3"/>
          <p:cNvSpPr/>
          <p:nvPr/>
        </p:nvSpPr>
        <p:spPr>
          <a:xfrm>
            <a:off x="7589520" y="4663440"/>
            <a:ext cx="3931920" cy="1371600"/>
          </a:xfrm>
          <a:prstGeom prst="roundRect">
            <a:avLst>
              <a:gd name="adj" fmla="val 8000"/>
            </a:avLst>
          </a:prstGeom>
          <a:solidFill>
            <a:schemeClr val="bg2"/>
          </a:solidFill>
          <a:ln w="12700">
            <a:solidFill>
              <a:schemeClr val="bg2"/>
            </a:solidFill>
            <a:prstDash val="solid"/>
          </a:ln>
        </p:spPr>
      </p:sp>
      <p:sp>
        <p:nvSpPr>
          <p:cNvPr id="11" name="Insight head 3"/>
          <p:cNvSpPr txBox="1"/>
          <p:nvPr/>
        </p:nvSpPr>
        <p:spPr>
          <a:xfrm>
            <a:off x="7818120" y="4773168"/>
            <a:ext cx="3566160" cy="365760"/>
          </a:xfrm>
          <a:prstGeom prst="rect">
            <a:avLst/>
          </a:prstGeom>
          <a:noFill/>
          <a:ln/>
        </p:spPr>
        <p:txBody>
          <a:bodyPr wrap="square" lIns="0" tIns="0" rIns="0" bIns="0" rtlCol="0" anchor="ctr"/>
          <a:lstStyle/>
          <a:p>
            <a:pPr indent="0" marL="0">
              <a:buNone/>
            </a:pPr>
            <a:r>
              <a:rPr lang="en-US" sz="1800" b="1" dirty="0">
                <a:solidFill>
                  <a:srgbClr val="E8590C"/>
                </a:solidFill>
                <a:latin typeface="Cambria" pitchFamily="34" charset="0"/>
                <a:ea typeface="Cambria" pitchFamily="34" charset="-122"/>
                <a:cs typeface="Cambria" pitchFamily="34" charset="-120"/>
              </a:rPr>
              <a:t>Action</a:t>
            </a:r>
            <a:endParaRPr lang="en-US" sz="1800" dirty="0"/>
          </a:p>
        </p:txBody>
      </p:sp>
      <p:sp>
        <p:nvSpPr>
          <p:cNvPr id="12" name="Insight text 3"/>
          <p:cNvSpPr txBox="1"/>
          <p:nvPr/>
        </p:nvSpPr>
        <p:spPr>
          <a:xfrm>
            <a:off x="7818120" y="5166360"/>
            <a:ext cx="3566160" cy="822960"/>
          </a:xfrm>
          <a:prstGeom prst="rect">
            <a:avLst/>
          </a:prstGeom>
          <a:noFill/>
          <a:ln/>
        </p:spPr>
        <p:txBody>
          <a:bodyPr wrap="square" lIns="0" tIns="0" rIns="0" bIns="0" rtlCol="0" anchor="ctr"/>
          <a:lstStyle/>
          <a:p>
            <a:pPr indent="0" marL="0">
              <a:buNone/>
            </a:pPr>
            <a:r>
              <a:rPr lang="en-US" sz="1400" dirty="0">
                <a:solidFill>
                  <a:schemeClr val="tx1"/>
                </a:solidFill>
              </a:rPr>
              <a:t>Always pre-cache a DEM and run ODM with --dsm.</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822960"/>
          </a:xfrm>
          <a:prstGeom prst="rect">
            <a:avLst/>
          </a:prstGeom>
          <a:noFill/>
          <a:ln/>
        </p:spPr>
        <p:txBody>
          <a:bodyPr wrap="square" lIns="0" tIns="0" rIns="0" bIns="0" rtlCol="0" anchor="t"/>
          <a:lstStyle/>
          <a:p>
            <a:pPr algn="l" indent="0" marL="0">
              <a:buNone/>
            </a:pPr>
            <a:r>
              <a:rPr lang="en-US" sz="3600" b="1" dirty="0">
                <a:solidFill>
                  <a:srgbClr val="0F1720"/>
                </a:solidFill>
              </a:rPr>
              <a:t>Measured time, offline by design, all open source</a:t>
            </a:r>
            <a:endParaRPr lang="en-US" sz="3600" dirty="0"/>
          </a:p>
        </p:txBody>
      </p:sp>
      <p:sp>
        <p:nvSpPr>
          <p:cNvPr id="3" name="Time card"/>
          <p:cNvSpPr/>
          <p:nvPr/>
        </p:nvSpPr>
        <p:spPr>
          <a:xfrm>
            <a:off x="640080" y="1463040"/>
            <a:ext cx="5394960" cy="2651760"/>
          </a:xfrm>
          <a:prstGeom prst="roundRect">
            <a:avLst>
              <a:gd name="adj" fmla="val 4138"/>
            </a:avLst>
          </a:prstGeom>
          <a:solidFill>
            <a:srgbClr val="0F1720"/>
          </a:solidFill>
          <a:ln w="12700">
            <a:solidFill>
              <a:srgbClr val="0F1720"/>
            </a:solidFill>
            <a:prstDash val="solid"/>
          </a:ln>
        </p:spPr>
      </p:sp>
      <p:sp>
        <p:nvSpPr>
          <p:cNvPr id="4" name="Time number"/>
          <p:cNvSpPr txBox="1"/>
          <p:nvPr/>
        </p:nvSpPr>
        <p:spPr>
          <a:xfrm>
            <a:off x="914400" y="1600200"/>
            <a:ext cx="4846320" cy="1188720"/>
          </a:xfrm>
          <a:prstGeom prst="rect">
            <a:avLst/>
          </a:prstGeom>
          <a:noFill/>
          <a:ln/>
        </p:spPr>
        <p:txBody>
          <a:bodyPr wrap="square" lIns="0" tIns="0" rIns="0" bIns="0" rtlCol="0" anchor="ctr"/>
          <a:lstStyle/>
          <a:p>
            <a:pPr indent="0" marL="0">
              <a:buNone/>
            </a:pPr>
            <a:r>
              <a:rPr lang="en-US" sz="8000" b="1" dirty="0">
                <a:solidFill>
                  <a:srgbClr val="F4A100"/>
                </a:solidFill>
                <a:latin typeface="Cambria" pitchFamily="34" charset="0"/>
                <a:ea typeface="Cambria" pitchFamily="34" charset="-122"/>
                <a:cs typeface="Cambria" pitchFamily="34" charset="-120"/>
              </a:rPr>
              <a:t>5 s</a:t>
            </a:r>
            <a:endParaRPr lang="en-US" sz="8000" dirty="0"/>
          </a:p>
        </p:txBody>
      </p:sp>
      <p:sp>
        <p:nvSpPr>
          <p:cNvPr id="5" name="Time label"/>
          <p:cNvSpPr txBox="1"/>
          <p:nvPr/>
        </p:nvSpPr>
        <p:spPr>
          <a:xfrm>
            <a:off x="914400" y="2788920"/>
            <a:ext cx="4846320" cy="1188720"/>
          </a:xfrm>
          <a:prstGeom prst="rect">
            <a:avLst/>
          </a:prstGeom>
          <a:noFill/>
          <a:ln/>
        </p:spPr>
        <p:txBody>
          <a:bodyPr wrap="square" lIns="0" tIns="0" rIns="0" bIns="0" rtlCol="0" anchor="ctr"/>
          <a:lstStyle/>
          <a:p>
            <a:pPr indent="0" marL="0">
              <a:buNone/>
            </a:pPr>
            <a:r>
              <a:rPr lang="en-US" sz="1600" dirty="0">
                <a:solidFill>
                  <a:srgbClr val="FFFFFF"/>
                </a:solidFill>
              </a:rPr>
              <a:t>1.43 km² at 1 m/px: register, change, roads, export, PDF. 1 CPU core, 3.9 GB RAM, no GPU.</a:t>
            </a:r>
            <a:endParaRPr lang="en-US" sz="1600" dirty="0"/>
          </a:p>
        </p:txBody>
      </p:sp>
      <p:sp>
        <p:nvSpPr>
          <p:cNvPr id="6" name="ODM card"/>
          <p:cNvSpPr/>
          <p:nvPr/>
        </p:nvSpPr>
        <p:spPr>
          <a:xfrm>
            <a:off x="640080" y="4343400"/>
            <a:ext cx="5394960" cy="2011680"/>
          </a:xfrm>
          <a:prstGeom prst="roundRect">
            <a:avLst>
              <a:gd name="adj" fmla="val 5455"/>
            </a:avLst>
          </a:prstGeom>
          <a:solidFill>
            <a:schemeClr val="bg2"/>
          </a:solidFill>
          <a:ln w="12700">
            <a:solidFill>
              <a:schemeClr val="bg2"/>
            </a:solidFill>
            <a:prstDash val="solid"/>
          </a:ln>
        </p:spPr>
      </p:sp>
      <p:sp>
        <p:nvSpPr>
          <p:cNvPr id="7" name="ODM head"/>
          <p:cNvSpPr txBox="1"/>
          <p:nvPr/>
        </p:nvSpPr>
        <p:spPr>
          <a:xfrm>
            <a:off x="914400" y="4480560"/>
            <a:ext cx="4846320" cy="731520"/>
          </a:xfrm>
          <a:prstGeom prst="rect">
            <a:avLst/>
          </a:prstGeom>
          <a:noFill/>
          <a:ln/>
        </p:spPr>
        <p:txBody>
          <a:bodyPr wrap="square" lIns="0" tIns="0" rIns="0" bIns="0" rtlCol="0" anchor="ctr"/>
          <a:lstStyle/>
          <a:p>
            <a:pPr indent="0" marL="0">
              <a:buNone/>
            </a:pPr>
            <a:r>
              <a:rPr lang="en-US" sz="1800" b="1" dirty="0">
                <a:solidFill>
                  <a:srgbClr val="D62828"/>
                </a:solidFill>
                <a:latin typeface="Cambria" pitchFamily="34" charset="0"/>
                <a:ea typeface="Cambria" pitchFamily="34" charset="-122"/>
                <a:cs typeface="Cambria" pitchFamily="34" charset="-120"/>
              </a:rPr>
              <a:t>Stitching time: to be measured on the target laptop</a:t>
            </a:r>
            <a:endParaRPr lang="en-US" sz="1800" dirty="0"/>
          </a:p>
        </p:txBody>
      </p:sp>
      <p:sp>
        <p:nvSpPr>
          <p:cNvPr id="8" name="ODM text"/>
          <p:cNvSpPr txBox="1"/>
          <p:nvPr/>
        </p:nvSpPr>
        <p:spPr>
          <a:xfrm>
            <a:off x="914400" y="5212080"/>
            <a:ext cx="4846320" cy="1097280"/>
          </a:xfrm>
          <a:prstGeom prst="rect">
            <a:avLst/>
          </a:prstGeom>
          <a:noFill/>
          <a:ln/>
        </p:spPr>
        <p:txBody>
          <a:bodyPr wrap="square" lIns="0" tIns="0" rIns="0" bIns="0" rtlCol="0" anchor="ctr"/>
          <a:lstStyle/>
          <a:p>
            <a:pPr indent="0" marL="0">
              <a:buNone/>
            </a:pPr>
            <a:r>
              <a:rPr lang="en-US" sz="1400" dirty="0">
                <a:solidFill>
                  <a:schemeClr val="tx2"/>
                </a:solidFill>
              </a:rPr>
              <a:t>The 5 s excludes OpenDroneMap. scripts/run_odm.sh prints images, seconds and cores to quote. ODM was not run in the build environment (no Docker).</a:t>
            </a:r>
            <a:endParaRPr lang="en-US" sz="1400" dirty="0"/>
          </a:p>
        </p:txBody>
      </p:sp>
      <p:sp>
        <p:nvSpPr>
          <p:cNvPr id="9" name="Stack head"/>
          <p:cNvSpPr txBox="1"/>
          <p:nvPr/>
        </p:nvSpPr>
        <p:spPr>
          <a:xfrm>
            <a:off x="6492240" y="1463040"/>
            <a:ext cx="502920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Open-source stack</a:t>
            </a:r>
            <a:endParaRPr lang="en-US" sz="2200" dirty="0"/>
          </a:p>
        </p:txBody>
      </p:sp>
      <p:sp>
        <p:nvSpPr>
          <p:cNvPr id="10" name="Stack dot 1"/>
          <p:cNvSpPr/>
          <p:nvPr/>
        </p:nvSpPr>
        <p:spPr>
          <a:xfrm>
            <a:off x="6492240" y="2130552"/>
            <a:ext cx="256032" cy="256032"/>
          </a:xfrm>
          <a:prstGeom prst="ellipse">
            <a:avLst/>
          </a:prstGeom>
          <a:solidFill>
            <a:srgbClr val="2B9348"/>
          </a:solidFill>
          <a:ln w="12700">
            <a:solidFill>
              <a:srgbClr val="2B9348"/>
            </a:solidFill>
            <a:prstDash val="solid"/>
          </a:ln>
        </p:spPr>
      </p:sp>
      <p:sp>
        <p:nvSpPr>
          <p:cNvPr id="11" name="Stack name 1"/>
          <p:cNvSpPr txBox="1"/>
          <p:nvPr/>
        </p:nvSpPr>
        <p:spPr>
          <a:xfrm>
            <a:off x="6949440" y="2020824"/>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OpenDroneMap</a:t>
            </a:r>
            <a:endParaRPr lang="en-US" sz="1600" dirty="0"/>
          </a:p>
        </p:txBody>
      </p:sp>
      <p:sp>
        <p:nvSpPr>
          <p:cNvPr id="12" name="Stack role 1"/>
          <p:cNvSpPr txBox="1"/>
          <p:nvPr/>
        </p:nvSpPr>
        <p:spPr>
          <a:xfrm>
            <a:off x="6949440" y="2350008"/>
            <a:ext cx="4572000" cy="320040"/>
          </a:xfrm>
          <a:prstGeom prst="rect">
            <a:avLst/>
          </a:prstGeom>
          <a:noFill/>
          <a:ln/>
        </p:spPr>
        <p:txBody>
          <a:bodyPr wrap="square" lIns="0" tIns="0" rIns="0" bIns="0" rtlCol="0" anchor="ctr"/>
          <a:lstStyle/>
          <a:p>
            <a:pPr indent="0" marL="0">
              <a:buNone/>
            </a:pPr>
            <a:r>
              <a:rPr lang="en-US" sz="1300" dirty="0">
                <a:solidFill>
                  <a:schemeClr val="tx2"/>
                </a:solidFill>
              </a:rPr>
              <a:t>stitching, orthophoto, DSM</a:t>
            </a:r>
            <a:endParaRPr lang="en-US" sz="1300" dirty="0"/>
          </a:p>
        </p:txBody>
      </p:sp>
      <p:sp>
        <p:nvSpPr>
          <p:cNvPr id="13" name="Stack dot 2"/>
          <p:cNvSpPr/>
          <p:nvPr/>
        </p:nvSpPr>
        <p:spPr>
          <a:xfrm>
            <a:off x="6492240" y="2843784"/>
            <a:ext cx="256032" cy="256032"/>
          </a:xfrm>
          <a:prstGeom prst="ellipse">
            <a:avLst/>
          </a:prstGeom>
          <a:solidFill>
            <a:srgbClr val="2B9348"/>
          </a:solidFill>
          <a:ln w="12700">
            <a:solidFill>
              <a:srgbClr val="2B9348"/>
            </a:solidFill>
            <a:prstDash val="solid"/>
          </a:ln>
        </p:spPr>
      </p:sp>
      <p:sp>
        <p:nvSpPr>
          <p:cNvPr id="14" name="Stack name 2"/>
          <p:cNvSpPr txBox="1"/>
          <p:nvPr/>
        </p:nvSpPr>
        <p:spPr>
          <a:xfrm>
            <a:off x="6949440" y="2734056"/>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OpenCV</a:t>
            </a:r>
            <a:endParaRPr lang="en-US" sz="1600" dirty="0"/>
          </a:p>
        </p:txBody>
      </p:sp>
      <p:sp>
        <p:nvSpPr>
          <p:cNvPr id="15" name="Stack role 2"/>
          <p:cNvSpPr txBox="1"/>
          <p:nvPr/>
        </p:nvSpPr>
        <p:spPr>
          <a:xfrm>
            <a:off x="6949440" y="3063240"/>
            <a:ext cx="4572000" cy="320040"/>
          </a:xfrm>
          <a:prstGeom prst="rect">
            <a:avLst/>
          </a:prstGeom>
          <a:noFill/>
          <a:ln/>
        </p:spPr>
        <p:txBody>
          <a:bodyPr wrap="square" lIns="0" tIns="0" rIns="0" bIns="0" rtlCol="0" anchor="ctr"/>
          <a:lstStyle/>
          <a:p>
            <a:pPr indent="0" marL="0">
              <a:buNone/>
            </a:pPr>
            <a:r>
              <a:rPr lang="en-US" sz="1300" dirty="0">
                <a:solidFill>
                  <a:schemeClr val="tx2"/>
                </a:solidFill>
              </a:rPr>
              <a:t>SIFT, RANSAC registration</a:t>
            </a:r>
            <a:endParaRPr lang="en-US" sz="1300" dirty="0"/>
          </a:p>
        </p:txBody>
      </p:sp>
      <p:sp>
        <p:nvSpPr>
          <p:cNvPr id="16" name="Stack dot 3"/>
          <p:cNvSpPr/>
          <p:nvPr/>
        </p:nvSpPr>
        <p:spPr>
          <a:xfrm>
            <a:off x="6492240" y="3557016"/>
            <a:ext cx="256032" cy="256032"/>
          </a:xfrm>
          <a:prstGeom prst="ellipse">
            <a:avLst/>
          </a:prstGeom>
          <a:solidFill>
            <a:srgbClr val="2B9348"/>
          </a:solidFill>
          <a:ln w="12700">
            <a:solidFill>
              <a:srgbClr val="2B9348"/>
            </a:solidFill>
            <a:prstDash val="solid"/>
          </a:ln>
        </p:spPr>
      </p:sp>
      <p:sp>
        <p:nvSpPr>
          <p:cNvPr id="17" name="Stack name 3"/>
          <p:cNvSpPr txBox="1"/>
          <p:nvPr/>
        </p:nvSpPr>
        <p:spPr>
          <a:xfrm>
            <a:off x="6949440" y="3447288"/>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rasterio / GDAL</a:t>
            </a:r>
            <a:endParaRPr lang="en-US" sz="1600" dirty="0"/>
          </a:p>
        </p:txBody>
      </p:sp>
      <p:sp>
        <p:nvSpPr>
          <p:cNvPr id="18" name="Stack role 3"/>
          <p:cNvSpPr txBox="1"/>
          <p:nvPr/>
        </p:nvSpPr>
        <p:spPr>
          <a:xfrm>
            <a:off x="6949440" y="3776472"/>
            <a:ext cx="4572000" cy="320040"/>
          </a:xfrm>
          <a:prstGeom prst="rect">
            <a:avLst/>
          </a:prstGeom>
          <a:noFill/>
          <a:ln/>
        </p:spPr>
        <p:txBody>
          <a:bodyPr wrap="square" lIns="0" tIns="0" rIns="0" bIns="0" rtlCol="0" anchor="ctr"/>
          <a:lstStyle/>
          <a:p>
            <a:pPr indent="0" marL="0">
              <a:buNone/>
            </a:pPr>
            <a:r>
              <a:rPr lang="en-US" sz="1300" dirty="0">
                <a:solidFill>
                  <a:schemeClr val="tx2"/>
                </a:solidFill>
              </a:rPr>
              <a:t>raster IO, reprojection</a:t>
            </a:r>
            <a:endParaRPr lang="en-US" sz="1300" dirty="0"/>
          </a:p>
        </p:txBody>
      </p:sp>
      <p:sp>
        <p:nvSpPr>
          <p:cNvPr id="19" name="Stack dot 4"/>
          <p:cNvSpPr/>
          <p:nvPr/>
        </p:nvSpPr>
        <p:spPr>
          <a:xfrm>
            <a:off x="6492240" y="4270248"/>
            <a:ext cx="256032" cy="256032"/>
          </a:xfrm>
          <a:prstGeom prst="ellipse">
            <a:avLst/>
          </a:prstGeom>
          <a:solidFill>
            <a:srgbClr val="2B9348"/>
          </a:solidFill>
          <a:ln w="12700">
            <a:solidFill>
              <a:srgbClr val="2B9348"/>
            </a:solidFill>
            <a:prstDash val="solid"/>
          </a:ln>
        </p:spPr>
      </p:sp>
      <p:sp>
        <p:nvSpPr>
          <p:cNvPr id="20" name="Stack name 4"/>
          <p:cNvSpPr txBox="1"/>
          <p:nvPr/>
        </p:nvSpPr>
        <p:spPr>
          <a:xfrm>
            <a:off x="6949440" y="416052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GeoPandas, Shapely</a:t>
            </a:r>
            <a:endParaRPr lang="en-US" sz="1600" dirty="0"/>
          </a:p>
        </p:txBody>
      </p:sp>
      <p:sp>
        <p:nvSpPr>
          <p:cNvPr id="21" name="Stack role 4"/>
          <p:cNvSpPr txBox="1"/>
          <p:nvPr/>
        </p:nvSpPr>
        <p:spPr>
          <a:xfrm>
            <a:off x="6949440" y="4489704"/>
            <a:ext cx="4572000" cy="320040"/>
          </a:xfrm>
          <a:prstGeom prst="rect">
            <a:avLst/>
          </a:prstGeom>
          <a:noFill/>
          <a:ln/>
        </p:spPr>
        <p:txBody>
          <a:bodyPr wrap="square" lIns="0" tIns="0" rIns="0" bIns="0" rtlCol="0" anchor="ctr"/>
          <a:lstStyle/>
          <a:p>
            <a:pPr indent="0" marL="0">
              <a:buNone/>
            </a:pPr>
            <a:r>
              <a:rPr lang="en-US" sz="1300" dirty="0">
                <a:solidFill>
                  <a:schemeClr val="tx2"/>
                </a:solidFill>
              </a:rPr>
              <a:t>road segments, vectors</a:t>
            </a:r>
            <a:endParaRPr lang="en-US" sz="1300" dirty="0"/>
          </a:p>
        </p:txBody>
      </p:sp>
      <p:sp>
        <p:nvSpPr>
          <p:cNvPr id="22" name="Stack dot 5"/>
          <p:cNvSpPr/>
          <p:nvPr/>
        </p:nvSpPr>
        <p:spPr>
          <a:xfrm>
            <a:off x="6492240" y="4983480"/>
            <a:ext cx="256032" cy="256032"/>
          </a:xfrm>
          <a:prstGeom prst="ellipse">
            <a:avLst/>
          </a:prstGeom>
          <a:solidFill>
            <a:srgbClr val="2B9348"/>
          </a:solidFill>
          <a:ln w="12700">
            <a:solidFill>
              <a:srgbClr val="2B9348"/>
            </a:solidFill>
            <a:prstDash val="solid"/>
          </a:ln>
        </p:spPr>
      </p:sp>
      <p:sp>
        <p:nvSpPr>
          <p:cNvPr id="23" name="Stack name 5"/>
          <p:cNvSpPr txBox="1"/>
          <p:nvPr/>
        </p:nvSpPr>
        <p:spPr>
          <a:xfrm>
            <a:off x="6949440" y="487375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OpenStreetMap, Sentinel-2, OAM, Copernicus DEM</a:t>
            </a:r>
            <a:endParaRPr lang="en-US" sz="1600" dirty="0"/>
          </a:p>
        </p:txBody>
      </p:sp>
      <p:sp>
        <p:nvSpPr>
          <p:cNvPr id="24" name="Stack role 5"/>
          <p:cNvSpPr txBox="1"/>
          <p:nvPr/>
        </p:nvSpPr>
        <p:spPr>
          <a:xfrm>
            <a:off x="6949440" y="5202936"/>
            <a:ext cx="4572000" cy="320040"/>
          </a:xfrm>
          <a:prstGeom prst="rect">
            <a:avLst/>
          </a:prstGeom>
          <a:noFill/>
          <a:ln/>
        </p:spPr>
        <p:txBody>
          <a:bodyPr wrap="square" lIns="0" tIns="0" rIns="0" bIns="0" rtlCol="0" anchor="ctr"/>
          <a:lstStyle/>
          <a:p>
            <a:pPr indent="0" marL="0">
              <a:buNone/>
            </a:pPr>
            <a:r>
              <a:rPr lang="en-US" sz="1300" dirty="0">
                <a:solidFill>
                  <a:schemeClr val="tx2"/>
                </a:solidFill>
              </a:rPr>
              <a:t>base data</a:t>
            </a:r>
            <a:endParaRPr lang="en-US" sz="1300" dirty="0"/>
          </a:p>
        </p:txBody>
      </p:sp>
      <p:sp>
        <p:nvSpPr>
          <p:cNvPr id="25" name="Stack dot 6"/>
          <p:cNvSpPr/>
          <p:nvPr/>
        </p:nvSpPr>
        <p:spPr>
          <a:xfrm>
            <a:off x="6492240" y="5696712"/>
            <a:ext cx="256032" cy="256032"/>
          </a:xfrm>
          <a:prstGeom prst="ellipse">
            <a:avLst/>
          </a:prstGeom>
          <a:solidFill>
            <a:srgbClr val="2B9348"/>
          </a:solidFill>
          <a:ln w="12700">
            <a:solidFill>
              <a:srgbClr val="2B9348"/>
            </a:solidFill>
            <a:prstDash val="solid"/>
          </a:ln>
        </p:spPr>
      </p:sp>
      <p:sp>
        <p:nvSpPr>
          <p:cNvPr id="26" name="Stack name 6"/>
          <p:cNvSpPr txBox="1"/>
          <p:nvPr/>
        </p:nvSpPr>
        <p:spPr>
          <a:xfrm>
            <a:off x="6949440" y="5586984"/>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Matplotlib, ReportLab, QGIS</a:t>
            </a:r>
            <a:endParaRPr lang="en-US" sz="1600" dirty="0"/>
          </a:p>
        </p:txBody>
      </p:sp>
      <p:sp>
        <p:nvSpPr>
          <p:cNvPr id="27" name="Stack role 6"/>
          <p:cNvSpPr txBox="1"/>
          <p:nvPr/>
        </p:nvSpPr>
        <p:spPr>
          <a:xfrm>
            <a:off x="6949440" y="5916168"/>
            <a:ext cx="4572000" cy="320040"/>
          </a:xfrm>
          <a:prstGeom prst="rect">
            <a:avLst/>
          </a:prstGeom>
          <a:noFill/>
          <a:ln/>
        </p:spPr>
        <p:txBody>
          <a:bodyPr wrap="square" lIns="0" tIns="0" rIns="0" bIns="0" rtlCol="0" anchor="ctr"/>
          <a:lstStyle/>
          <a:p>
            <a:pPr indent="0" marL="0">
              <a:buNone/>
            </a:pPr>
            <a:r>
              <a:rPr lang="en-US" sz="1300" dirty="0">
                <a:solidFill>
                  <a:schemeClr val="tx2"/>
                </a:solidFill>
              </a:rPr>
              <a:t>brief, map, viewing</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914400"/>
          </a:xfrm>
          <a:prstGeom prst="rect">
            <a:avLst/>
          </a:prstGeom>
          <a:noFill/>
          <a:ln/>
        </p:spPr>
        <p:txBody>
          <a:bodyPr wrap="square" lIns="0" tIns="0" rIns="0" bIns="0" rtlCol="0" anchor="t"/>
          <a:lstStyle/>
          <a:p>
            <a:pPr algn="l" indent="0" marL="0">
              <a:buNone/>
            </a:pPr>
            <a:r>
              <a:rPr lang="en-US" sz="3800" b="1" dirty="0">
                <a:solidFill>
                  <a:srgbClr val="FFFFFF"/>
                </a:solidFill>
              </a:rPr>
              <a:t>Honest limits, and what we do next</a:t>
            </a:r>
            <a:endParaRPr lang="en-US" sz="3800" dirty="0"/>
          </a:p>
        </p:txBody>
      </p:sp>
      <p:sp>
        <p:nvSpPr>
          <p:cNvPr id="3" name="Limits card"/>
          <p:cNvSpPr/>
          <p:nvPr/>
        </p:nvSpPr>
        <p:spPr>
          <a:xfrm>
            <a:off x="640080" y="1463040"/>
            <a:ext cx="5303520" cy="4206240"/>
          </a:xfrm>
          <a:prstGeom prst="roundRect">
            <a:avLst>
              <a:gd name="adj" fmla="val 2609"/>
            </a:avLst>
          </a:prstGeom>
          <a:solidFill>
            <a:srgbClr val="2A3744"/>
          </a:solidFill>
          <a:ln w="12700">
            <a:solidFill>
              <a:srgbClr val="2A3744"/>
            </a:solidFill>
            <a:prstDash val="solid"/>
          </a:ln>
        </p:spPr>
      </p:sp>
      <p:sp>
        <p:nvSpPr>
          <p:cNvPr id="4" name="Limits head"/>
          <p:cNvSpPr txBox="1"/>
          <p:nvPr/>
        </p:nvSpPr>
        <p:spPr>
          <a:xfrm>
            <a:off x="914400" y="1645920"/>
            <a:ext cx="4754880" cy="457200"/>
          </a:xfrm>
          <a:prstGeom prst="rect">
            <a:avLst/>
          </a:prstGeom>
          <a:noFill/>
          <a:ln/>
        </p:spPr>
        <p:txBody>
          <a:bodyPr wrap="square" lIns="0" tIns="0" rIns="0" bIns="0" rtlCol="0" anchor="ctr"/>
          <a:lstStyle/>
          <a:p>
            <a:pPr indent="0" marL="0">
              <a:buNone/>
            </a:pPr>
            <a:r>
              <a:rPr lang="en-US" sz="2400" b="1" dirty="0">
                <a:solidFill>
                  <a:srgbClr val="F4A100"/>
                </a:solidFill>
                <a:latin typeface="Cambria" pitchFamily="34" charset="0"/>
                <a:ea typeface="Cambria" pitchFamily="34" charset="-122"/>
                <a:cs typeface="Cambria" pitchFamily="34" charset="-120"/>
              </a:rPr>
              <a:t>Limits</a:t>
            </a:r>
            <a:endParaRPr lang="en-US" sz="2400" dirty="0"/>
          </a:p>
        </p:txBody>
      </p:sp>
      <p:sp>
        <p:nvSpPr>
          <p:cNvPr id="5" name="Limits list"/>
          <p:cNvSpPr txBox="1"/>
          <p:nvPr/>
        </p:nvSpPr>
        <p:spPr>
          <a:xfrm>
            <a:off x="914400" y="2240280"/>
            <a:ext cx="475488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Validated on a simulated scene only, not yet on a real landslide</a:t>
            </a:r>
            <a:endParaRPr lang="en-US" sz="1800" dirty="0"/>
          </a:p>
          <a:p>
            <a:pPr marL="342900" indent="-342900">
              <a:spcAft>
                <a:spcPts val="1000"/>
              </a:spcAft>
              <a:buSzPct val="100000"/>
              <a:buChar char="•"/>
            </a:pPr>
            <a:r>
              <a:rPr lang="en-US" sz="1800" dirty="0">
                <a:solidFill>
                  <a:srgbClr val="FFFFFF"/>
                </a:solidFill>
              </a:rPr>
              <a:t>Absolute accuracy is bounded by the base layer (about 10 m)</a:t>
            </a:r>
            <a:endParaRPr lang="en-US" sz="1800" dirty="0"/>
          </a:p>
          <a:p>
            <a:pPr marL="342900" indent="-342900">
              <a:spcAft>
                <a:spcPts val="1000"/>
              </a:spcAft>
              <a:buSzPct val="100000"/>
              <a:buChar char="•"/>
            </a:pPr>
            <a:r>
              <a:rPr lang="en-US" sz="1800" dirty="0">
                <a:solidFill>
                  <a:srgbClr val="FFFFFF"/>
                </a:solidFill>
              </a:rPr>
              <a:t>Change detection is coarse at 10 m base resolution</a:t>
            </a:r>
            <a:endParaRPr lang="en-US" sz="1800" dirty="0"/>
          </a:p>
          <a:p>
            <a:pPr marL="342900" indent="-342900">
              <a:spcAft>
                <a:spcPts val="1000"/>
              </a:spcAft>
              <a:buSzPct val="100000"/>
              <a:buChar char="•"/>
            </a:pPr>
            <a:r>
              <a:rPr lang="en-US" sz="1800" dirty="0">
                <a:solidFill>
                  <a:srgbClr val="FFFFFF"/>
                </a:solidFill>
              </a:rPr>
              <a:t>Thresholds are not field-calibrated; DSM−DEM also sees trees and buildings</a:t>
            </a:r>
            <a:endParaRPr lang="en-US" sz="1800" dirty="0"/>
          </a:p>
        </p:txBody>
      </p:sp>
      <p:sp>
        <p:nvSpPr>
          <p:cNvPr id="6" name="Next steps card"/>
          <p:cNvSpPr/>
          <p:nvPr/>
        </p:nvSpPr>
        <p:spPr>
          <a:xfrm>
            <a:off x="6263640" y="1463040"/>
            <a:ext cx="5303520" cy="4206240"/>
          </a:xfrm>
          <a:prstGeom prst="roundRect">
            <a:avLst>
              <a:gd name="adj" fmla="val 2609"/>
            </a:avLst>
          </a:prstGeom>
          <a:solidFill>
            <a:srgbClr val="2A3744"/>
          </a:solidFill>
          <a:ln w="12700">
            <a:solidFill>
              <a:srgbClr val="2A3744"/>
            </a:solidFill>
            <a:prstDash val="solid"/>
          </a:ln>
        </p:spPr>
      </p:sp>
      <p:sp>
        <p:nvSpPr>
          <p:cNvPr id="7" name="Next steps head"/>
          <p:cNvSpPr txBox="1"/>
          <p:nvPr/>
        </p:nvSpPr>
        <p:spPr>
          <a:xfrm>
            <a:off x="6537960" y="1645920"/>
            <a:ext cx="4754880" cy="457200"/>
          </a:xfrm>
          <a:prstGeom prst="rect">
            <a:avLst/>
          </a:prstGeom>
          <a:noFill/>
          <a:ln/>
        </p:spPr>
        <p:txBody>
          <a:bodyPr wrap="square" lIns="0" tIns="0" rIns="0" bIns="0" rtlCol="0" anchor="ctr"/>
          <a:lstStyle/>
          <a:p>
            <a:pPr indent="0" marL="0">
              <a:buNone/>
            </a:pPr>
            <a:r>
              <a:rPr lang="en-US" sz="2400" b="1" dirty="0">
                <a:solidFill>
                  <a:srgbClr val="2B9348"/>
                </a:solidFill>
                <a:latin typeface="Cambria" pitchFamily="34" charset="0"/>
                <a:ea typeface="Cambria" pitchFamily="34" charset="-122"/>
                <a:cs typeface="Cambria" pitchFamily="34" charset="-120"/>
              </a:rPr>
              <a:t>Next steps</a:t>
            </a:r>
            <a:endParaRPr lang="en-US" sz="2400" dirty="0"/>
          </a:p>
        </p:txBody>
      </p:sp>
      <p:sp>
        <p:nvSpPr>
          <p:cNvPr id="8" name="Next steps list"/>
          <p:cNvSpPr txBox="1"/>
          <p:nvPr/>
        </p:nvSpPr>
        <p:spPr>
          <a:xfrm>
            <a:off x="6537960" y="2240280"/>
            <a:ext cx="475488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Run ODM on OpenDroneMap sample sets and our own flight, and publish the measured time</a:t>
            </a:r>
            <a:endParaRPr lang="en-US" sz="1800" dirty="0"/>
          </a:p>
          <a:p>
            <a:pPr marL="342900" indent="-342900">
              <a:spcAft>
                <a:spcPts val="1000"/>
              </a:spcAft>
              <a:buSzPct val="100000"/>
              <a:buChar char="•"/>
            </a:pPr>
            <a:r>
              <a:rPr lang="en-US" sz="1800" dirty="0">
                <a:solidFill>
                  <a:srgbClr val="FFFFFF"/>
                </a:solidFill>
              </a:rPr>
              <a:t>Test on real OpenAerialMap post-disaster imagery</a:t>
            </a:r>
            <a:endParaRPr lang="en-US" sz="1800" dirty="0"/>
          </a:p>
          <a:p>
            <a:pPr marL="342900" indent="-342900">
              <a:spcAft>
                <a:spcPts val="1000"/>
              </a:spcAft>
              <a:buSzPct val="100000"/>
              <a:buChar char="•"/>
            </a:pPr>
            <a:r>
              <a:rPr lang="en-US" sz="1800" dirty="0">
                <a:solidFill>
                  <a:srgbClr val="FFFFFF"/>
                </a:solidFill>
              </a:rPr>
              <a:t>Calibrate thresholds against surveyed ground truth</a:t>
            </a:r>
            <a:endParaRPr lang="en-US" sz="1800" dirty="0"/>
          </a:p>
          <a:p>
            <a:pPr marL="342900" indent="-342900">
              <a:spcAft>
                <a:spcPts val="1000"/>
              </a:spcAft>
              <a:buSzPct val="100000"/>
              <a:buChar char="•"/>
            </a:pPr>
            <a:r>
              <a:rPr lang="en-US" sz="1800" dirty="0">
                <a:solidFill>
                  <a:srgbClr val="FFFFFF"/>
                </a:solidFill>
              </a:rPr>
              <a:t>Add MBTiles and a QGIS project</a:t>
            </a:r>
            <a:endParaRPr lang="en-US" sz="1800" dirty="0"/>
          </a:p>
        </p:txBody>
      </p:sp>
      <p:sp>
        <p:nvSpPr>
          <p:cNvPr id="9" name="Closing line"/>
          <p:cNvSpPr txBox="1"/>
          <p:nvPr/>
        </p:nvSpPr>
        <p:spPr>
          <a:xfrm>
            <a:off x="640080" y="5989320"/>
            <a:ext cx="10881360" cy="457200"/>
          </a:xfrm>
          <a:prstGeom prst="rect">
            <a:avLst/>
          </a:prstGeom>
          <a:noFill/>
          <a:ln/>
        </p:spPr>
        <p:txBody>
          <a:bodyPr wrap="square" lIns="0" tIns="0" rIns="0" bIns="0" rtlCol="0" anchor="ctr"/>
          <a:lstStyle/>
          <a:p>
            <a:pPr indent="0" marL="0">
              <a:buNone/>
            </a:pPr>
            <a:r>
              <a:rPr lang="en-US" sz="1800" b="1" dirty="0">
                <a:solidFill>
                  <a:srgbClr val="FFFFFF"/>
                </a:solidFill>
              </a:rPr>
              <a:t>github.com/kavixsri/MAPPA  ·  MIT licensed  ·  runs offline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5"/>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APPA">
  <a:themeElements>
    <a:clrScheme name="MAPPA">
      <a:dk1>
        <a:srgbClr val="0F1720"/>
      </a:dk1>
      <a:lt1>
        <a:srgbClr val="FFFFFF"/>
      </a:lt1>
      <a:dk2>
        <a:srgbClr val="2A3744"/>
      </a:dk2>
      <a:lt2>
        <a:srgbClr val="EDF0F3"/>
      </a:lt2>
      <a:accent1>
        <a:srgbClr val="E8590C"/>
      </a:accent1>
      <a:accent2>
        <a:srgbClr val="D62828"/>
      </a:accent2>
      <a:accent3>
        <a:srgbClr val="2B9348"/>
      </a:accent3>
      <a:accent4>
        <a:srgbClr val="F4A100"/>
      </a:accent4>
      <a:accent5>
        <a:srgbClr val="3A86A8"/>
      </a:accent5>
      <a:accent6>
        <a:srgbClr val="6B7A8F"/>
      </a:accent6>
      <a:hlink>
        <a:srgbClr val="3A86A8"/>
      </a:hlink>
      <a:folHlink>
        <a:srgbClr val="6B7A8F"/>
      </a:folHlink>
    </a:clrScheme>
    <a:fontScheme name="MAPP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MAPPA: The First Map After The Landslide</dc:title>
  <dc:subject>PptxGenJS Presentation</dc:subject>
  <dc:creator>PptxGenJS</dc:creator>
  <cp:lastModifiedBy>PptxGenJS</cp:lastModifiedBy>
  <cp:revision>1</cp:revision>
  <dcterms:created xsi:type="dcterms:W3CDTF">2026-10-26T19:11:24Z</dcterms:created>
  <dcterms:modified xsi:type="dcterms:W3CDTF">2026-10-26T19:11:24Z</dcterms:modified>
</cp:coreProperties>
</file>